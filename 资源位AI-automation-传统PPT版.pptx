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726adb0484ae6" /><Relationship Type="http://schemas.openxmlformats.org/officeDocument/2006/relationships/extended-properties" Target="/docProps/app.xml" Id="R86c4b8a133074ef0" /><Relationship Type="http://schemas.openxmlformats.org/officeDocument/2006/relationships/officeDocument" Target="/ppt/presentation.xml" Id="R3272dc02a2db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d418afb804f7e"/>
  </p:sldMasterIdLst>
  <p:notesMasterIdLst>
    <p:notesMasterId xmlns:r="http://schemas.openxmlformats.org/officeDocument/2006/relationships" r:id="Rc699cf692a0f440e"/>
  </p:notesMasterIdLst>
  <p:sldIdLst>
    <p:sldId xmlns:r="http://schemas.openxmlformats.org/officeDocument/2006/relationships" id="256" r:id="Rf0adc7e7c6364600"/>
    <p:sldId xmlns:r="http://schemas.openxmlformats.org/officeDocument/2006/relationships" id="257" r:id="R5506fac19502486f"/>
    <p:sldId xmlns:r="http://schemas.openxmlformats.org/officeDocument/2006/relationships" id="258" r:id="R3c79642060c84a54"/>
    <p:sldId xmlns:r="http://schemas.openxmlformats.org/officeDocument/2006/relationships" id="259" r:id="R8af0f765d12f41d1"/>
    <p:sldId xmlns:r="http://schemas.openxmlformats.org/officeDocument/2006/relationships" id="260" r:id="Rf4c8a2a8388e4777"/>
    <p:sldId xmlns:r="http://schemas.openxmlformats.org/officeDocument/2006/relationships" id="261" r:id="Ra13c69d617e64219"/>
    <p:sldId xmlns:r="http://schemas.openxmlformats.org/officeDocument/2006/relationships" id="262" r:id="Rc8a895606af64aca"/>
    <p:sldId xmlns:r="http://schemas.openxmlformats.org/officeDocument/2006/relationships" id="263" r:id="Ra33e5b2127f34c2a"/>
    <p:sldId xmlns:r="http://schemas.openxmlformats.org/officeDocument/2006/relationships" id="264" r:id="R16380c95bfb04952"/>
    <p:sldId xmlns:r="http://schemas.openxmlformats.org/officeDocument/2006/relationships" id="265" r:id="R0ef09fd3749f4522"/>
    <p:sldId xmlns:r="http://schemas.openxmlformats.org/officeDocument/2006/relationships" id="266" r:id="Ra0438fd4ffd141b8"/>
    <p:sldId xmlns:r="http://schemas.openxmlformats.org/officeDocument/2006/relationships" id="267" r:id="Rbd180c43097c4dde"/>
    <p:sldId xmlns:r="http://schemas.openxmlformats.org/officeDocument/2006/relationships" id="268" r:id="R3976d358632b423e"/>
    <p:sldId xmlns:r="http://schemas.openxmlformats.org/officeDocument/2006/relationships" id="269" r:id="Ra97f615120ad47fc"/>
    <p:sldId xmlns:r="http://schemas.openxmlformats.org/officeDocument/2006/relationships" id="270" r:id="R3c4bb58e831941c4"/>
    <p:sldId xmlns:r="http://schemas.openxmlformats.org/officeDocument/2006/relationships" id="271" r:id="R18d879fae0e5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c659efe184a20" /><Relationship Type="http://schemas.openxmlformats.org/officeDocument/2006/relationships/slideMaster" Target="/ppt/slideMasters/slideMaster1.xml" Id="R5c6d418afb804f7e" /><Relationship Type="http://schemas.openxmlformats.org/officeDocument/2006/relationships/notesMaster" Target="/ppt/notesMasters/notesMaster1.xml" Id="Rc699cf692a0f440e" /><Relationship Type="http://schemas.openxmlformats.org/officeDocument/2006/relationships/presProps" Target="/ppt/presProps.xml" Id="Rad7a2dde82634ec5" /><Relationship Type="http://schemas.openxmlformats.org/officeDocument/2006/relationships/tableStyles" Target="/ppt/tableStyles.xml" Id="R75e56c222d3f471e" /><Relationship Type="http://schemas.openxmlformats.org/officeDocument/2006/relationships/slide" Target="/ppt/slides/slide1.xml" Id="Rf0adc7e7c6364600" /><Relationship Type="http://schemas.openxmlformats.org/officeDocument/2006/relationships/slide" Target="/ppt/slides/slide2.xml" Id="R5506fac19502486f" /><Relationship Type="http://schemas.openxmlformats.org/officeDocument/2006/relationships/slide" Target="/ppt/slides/slide3.xml" Id="R3c79642060c84a54" /><Relationship Type="http://schemas.openxmlformats.org/officeDocument/2006/relationships/slide" Target="/ppt/slides/slide4.xml" Id="R8af0f765d12f41d1" /><Relationship Type="http://schemas.openxmlformats.org/officeDocument/2006/relationships/slide" Target="/ppt/slides/slide5.xml" Id="Rf4c8a2a8388e4777" /><Relationship Type="http://schemas.openxmlformats.org/officeDocument/2006/relationships/slide" Target="/ppt/slides/slide6.xml" Id="Ra13c69d617e64219" /><Relationship Type="http://schemas.openxmlformats.org/officeDocument/2006/relationships/slide" Target="/ppt/slides/slide7.xml" Id="Rc8a895606af64aca" /><Relationship Type="http://schemas.openxmlformats.org/officeDocument/2006/relationships/slide" Target="/ppt/slides/slide8.xml" Id="Ra33e5b2127f34c2a" /><Relationship Type="http://schemas.openxmlformats.org/officeDocument/2006/relationships/slide" Target="/ppt/slides/slide9.xml" Id="R16380c95bfb04952" /><Relationship Type="http://schemas.openxmlformats.org/officeDocument/2006/relationships/slide" Target="/ppt/slides/slide10.xml" Id="R0ef09fd3749f4522" /><Relationship Type="http://schemas.openxmlformats.org/officeDocument/2006/relationships/slide" Target="/ppt/slides/slide11.xml" Id="Ra0438fd4ffd141b8" /><Relationship Type="http://schemas.openxmlformats.org/officeDocument/2006/relationships/slide" Target="/ppt/slides/slide12.xml" Id="Rbd180c43097c4dde" /><Relationship Type="http://schemas.openxmlformats.org/officeDocument/2006/relationships/slide" Target="/ppt/slides/slide13.xml" Id="R3976d358632b423e" /><Relationship Type="http://schemas.openxmlformats.org/officeDocument/2006/relationships/slide" Target="/ppt/slides/slide14.xml" Id="Ra97f615120ad47fc" /><Relationship Type="http://schemas.openxmlformats.org/officeDocument/2006/relationships/slide" Target="/ppt/slides/slide15.xml" Id="R3c4bb58e831941c4" /><Relationship Type="http://schemas.openxmlformats.org/officeDocument/2006/relationships/slide" Target="/ppt/slides/slide16.xml" Id="R18d879fae0e5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6bdfa9b33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d7b6446f24a75" /><Relationship Type="http://schemas.openxmlformats.org/officeDocument/2006/relationships/notesMaster" Target="/ppt/notesMasters/notesMaster1.xml" Id="R0f6071bcc276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64e671b37f4b23" /><Relationship Type="http://schemas.openxmlformats.org/officeDocument/2006/relationships/notesMaster" Target="/ppt/notesMasters/notesMaster1.xml" Id="Rcbe027516b40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831d1143e64024" /><Relationship Type="http://schemas.openxmlformats.org/officeDocument/2006/relationships/notesMaster" Target="/ppt/notesMasters/notesMaster1.xml" Id="R26c7bf17410e40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ffdf750444d84" /><Relationship Type="http://schemas.openxmlformats.org/officeDocument/2006/relationships/notesMaster" Target="/ppt/notesMasters/notesMaster1.xml" Id="Rdf96332665da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b82af24c2c4c28" /><Relationship Type="http://schemas.openxmlformats.org/officeDocument/2006/relationships/notesMaster" Target="/ppt/notesMasters/notesMaster1.xml" Id="R587ad03d128b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7e1fada21414e" /><Relationship Type="http://schemas.openxmlformats.org/officeDocument/2006/relationships/notesMaster" Target="/ppt/notesMasters/notesMaster1.xml" Id="R6c1900d1495040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68a9b9706f4056" /><Relationship Type="http://schemas.openxmlformats.org/officeDocument/2006/relationships/notesMaster" Target="/ppt/notesMasters/notesMaster1.xml" Id="R4f64ba109ce6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b9dc039b4d4be1" /><Relationship Type="http://schemas.openxmlformats.org/officeDocument/2006/relationships/notesMaster" Target="/ppt/notesMasters/notesMaster1.xml" Id="Rc76b97f76b6f47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f9410b58d0411e" /><Relationship Type="http://schemas.openxmlformats.org/officeDocument/2006/relationships/notesMaster" Target="/ppt/notesMasters/notesMaster1.xml" Id="R89730619e2aa49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ab8f1a6bb420f" /><Relationship Type="http://schemas.openxmlformats.org/officeDocument/2006/relationships/notesMaster" Target="/ppt/notesMasters/notesMaster1.xml" Id="Ra0eaa6f2d1cc4d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fae23a41c149a4" /><Relationship Type="http://schemas.openxmlformats.org/officeDocument/2006/relationships/notesMaster" Target="/ppt/notesMasters/notesMaster1.xml" Id="R1932fdfed0e349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4e208bcfb4433e" /><Relationship Type="http://schemas.openxmlformats.org/officeDocument/2006/relationships/notesMaster" Target="/ppt/notesMasters/notesMaster1.xml" Id="R06a44957009a4b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930ec373a49f9" /><Relationship Type="http://schemas.openxmlformats.org/officeDocument/2006/relationships/notesMaster" Target="/ppt/notesMasters/notesMaster1.xml" Id="R7ff7982cbf4c44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88268521154291" /><Relationship Type="http://schemas.openxmlformats.org/officeDocument/2006/relationships/notesMaster" Target="/ppt/notesMasters/notesMaster1.xml" Id="Rfebcef38a9fc41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885dfa15c046bd" /><Relationship Type="http://schemas.openxmlformats.org/officeDocument/2006/relationships/notesMaster" Target="/ppt/notesMasters/notesMaster1.xml" Id="Rf71dc56a06a74e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b3fdcdf2174b08" /><Relationship Type="http://schemas.openxmlformats.org/officeDocument/2006/relationships/notesMaster" Target="/ppt/notesMasters/notesMaster1.xml" Id="Ra2c30c724fa0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开场先讲“流程被 AI 改写”这个直觉，不直接进入功能清单。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这一页只做类比，不做技术证明。</a:t>
            </a:r>
          </a:p>
          <a:p xmlns:a="http://schemas.openxmlformats.org/drawingml/2006/main">
            <a:r>
              <a:t>重点是让听众接受：AI 接管流程是工具演化的下一步，不是孤立功能。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这一页只做过门，不展开细节。</a:t>
            </a:r>
          </a:p>
          <a:p xmlns:a="http://schemas.openxmlformats.org/drawingml/2006/main">
            <a:r>
              <a:t>把听众从历史类比带到具体问题，语气停稳一点。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把场景讲清楚，最好用真实数据替换占位符。</a:t>
            </a:r>
          </a:p>
          <a:p xmlns:a="http://schemas.openxmlformats.org/drawingml/2006/main">
            <a:r>
              <a:t>这里是后面所有价值的根。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这一页要打出共情。</a:t>
            </a:r>
          </a:p>
          <a:p xmlns:a="http://schemas.openxmlformats.org/drawingml/2006/main">
            <a:r>
              <a:t>不要把它讲成流程问题，而是把它讲成人被消耗的问题。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讲清为什么自己动手，而不是等待传统排期。</a:t>
            </a:r>
          </a:p>
          <a:p xmlns:a="http://schemas.openxmlformats.org/drawingml/2006/main">
            <a:r>
              <a:t>重点在路径差异，不在技术炫耀。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原理部分只讲四步闭环，不展开细节。</a:t>
            </a:r>
          </a:p>
          <a:p xmlns:a="http://schemas.openxmlformats.org/drawingml/2006/main">
            <a:r>
              <a:t>把时间留给价值段。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讲清四步闭环，强调人和 AI 的分工。</a:t>
            </a:r>
          </a:p>
          <a:p xmlns:a="http://schemas.openxmlformats.org/drawingml/2006/main">
            <a:r>
              <a:t>不要陷入代码。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这一页开始进入高潮。</a:t>
            </a:r>
          </a:p>
          <a:p xmlns:a="http://schemas.openxmlformats.org/drawingml/2006/main">
            <a:r>
              <a:t>先让听众知道，后面会讲到精力、成长、组织价值。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这一页最好停久一点，让数据或示意图说话。</a:t>
            </a:r>
          </a:p>
          <a:p xmlns:a="http://schemas.openxmlformats.org/drawingml/2006/main">
            <a:r>
              <a:t>强调省出来的是认知带宽。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这一页落到人本身的成长，不要只讲工具。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这一页把个人实践抬到组织价值。</a:t>
            </a:r>
          </a:p>
          <a:p xmlns:a="http://schemas.openxmlformats.org/drawingml/2006/main">
            <a:r>
              <a:t>重点是可复制性。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这一页是价值升华，像观点，不像总结。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未来图景只要两页。</a:t>
            </a:r>
          </a:p>
          <a:p xmlns:a="http://schemas.openxmlformats.org/drawingml/2006/main">
            <a:r>
              <a:t>分节页负责把气口抬起来。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这页收束到一个更大的问题：自动化只是最基础的应用。</a:t>
            </a:r>
          </a:p>
          <a:p xmlns:a="http://schemas.openxmlformats.org/drawingml/2006/main">
            <a:r>
              <a:t>真正重要的是下一层用法。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结尾留给 Q&amp;A，语气轻一点，不要再往里塞信息了。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Feishu wiki: ppt_outline_v2.md and the source wiki outline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813fd7983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91c99f3254024" /><Relationship Type="http://schemas.openxmlformats.org/officeDocument/2006/relationships/slideLayout" Target="/ppt/slideLayouts/slideLayout1.xml" Id="Rcd431f95aed64b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431f95aed64b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bfc763f484713" /><Relationship Type="http://schemas.openxmlformats.org/officeDocument/2006/relationships/notesSlide" Target="/ppt/notesSlides/notesSlide1.xml" Id="Rd16eff357c50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ac92ab734935" /><Relationship Type="http://schemas.openxmlformats.org/officeDocument/2006/relationships/notesSlide" Target="/ppt/notesSlides/notesSlide2.xml" Id="R954f9e2ec374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45a99475740a6" /><Relationship Type="http://schemas.openxmlformats.org/officeDocument/2006/relationships/notesSlide" Target="/ppt/notesSlides/notesSlide3.xml" Id="Rbddc94b3c69c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ef3fae5fb4ba6" /><Relationship Type="http://schemas.openxmlformats.org/officeDocument/2006/relationships/notesSlide" Target="/ppt/notesSlides/notesSlide4.xml" Id="R2c6de0f37c57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392f1d43347a6" /><Relationship Type="http://schemas.openxmlformats.org/officeDocument/2006/relationships/notesSlide" Target="/ppt/notesSlides/notesSlide5.xml" Id="Rec30b1a54a1942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85b2dd67e4193" /><Relationship Type="http://schemas.openxmlformats.org/officeDocument/2006/relationships/notesSlide" Target="/ppt/notesSlides/notesSlide6.xml" Id="R0bdc4c351e84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865a4ba01432a" /><Relationship Type="http://schemas.openxmlformats.org/officeDocument/2006/relationships/notesSlide" Target="/ppt/notesSlides/notesSlide7.xml" Id="Rd56f42a9558c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f332acbce48ca" /><Relationship Type="http://schemas.openxmlformats.org/officeDocument/2006/relationships/notesSlide" Target="/ppt/notesSlides/notesSlide8.xml" Id="R671bdfd15b6248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c96982ac48b8" /><Relationship Type="http://schemas.openxmlformats.org/officeDocument/2006/relationships/notesSlide" Target="/ppt/notesSlides/notesSlide9.xml" Id="R2561fba3cd94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4b78a6f854a2c" /><Relationship Type="http://schemas.openxmlformats.org/officeDocument/2006/relationships/notesSlide" Target="/ppt/notesSlides/notesSlide10.xml" Id="R845ff6263c194c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07a469442499d" /><Relationship Type="http://schemas.openxmlformats.org/officeDocument/2006/relationships/notesSlide" Target="/ppt/notesSlides/notesSlide11.xml" Id="Rf0f409e34f494e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01f92bca24075" /><Relationship Type="http://schemas.openxmlformats.org/officeDocument/2006/relationships/notesSlide" Target="/ppt/notesSlides/notesSlide12.xml" Id="R890e6362bb604e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d176fffc148aa" /><Relationship Type="http://schemas.openxmlformats.org/officeDocument/2006/relationships/notesSlide" Target="/ppt/notesSlides/notesSlide13.xml" Id="Rd967f74089c848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b47f7307642f0" /><Relationship Type="http://schemas.openxmlformats.org/officeDocument/2006/relationships/notesSlide" Target="/ppt/notesSlides/notesSlide14.xml" Id="Rea74cadbb17f49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d0644b38143f7" /><Relationship Type="http://schemas.openxmlformats.org/officeDocument/2006/relationships/notesSlide" Target="/ppt/notesSlides/notesSlide15.xml" Id="R6a66da584c444b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afede064841cd" /><Relationship Type="http://schemas.openxmlformats.org/officeDocument/2006/relationships/notesSlide" Target="/ppt/notesSlides/notesSlide16.xml" Id="R0b6f1ad968b34c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3038C-1D41-44BB-ADC0-8021F01A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163B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5BA5A-E5F1-4316-A240-5BABD274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163B6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AC3B1-44BA-46E4-8921-923F1986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宣讲 / 资源位自动化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995CB-952E-4C3F-BB9A-959E23F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用 AI 做 Coding，</a:t>
            </a:r>
          </a:p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我把重复劳动交出去了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DFE3E-84EB-4B0D-8A83-9803E971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 AI Coding 实现资源位配置自动化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0D540-5C62-4B74-83B2-684F63B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AB771-691B-4F55-83B9-CB83464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演讲人 / 部门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603AD-C1C4-4A0F-AD69-60B5559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speaker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7CECE-614E-41C9-8196-CB7F773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待补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C85D-E1B5-47C5-B3F4-D10B475E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767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09BE1-D52B-4484-B606-A20F5FC2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24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资源位自动化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36034-F8D9-417E-8B6B-BC1278B1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F74BB-5B86-4C21-85AF-0CAD8B0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24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2026.08.23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9F435-F048-42DD-8279-7406F06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2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自动化闭环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85FAC-6450-4AEF-A003-6995BCAB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23950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460C9-3A5E-49ED-AAAB-5D3EFD93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54429-9D03-4787-822B-F029C829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287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需求进入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BF0A3-5B02-4B03-968E-D835194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416D1-A652-40FE-B756-0BE3A33B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1B168-7D0F-4D94-A1D7-E703E0CE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431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 完善边界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C9D11-ABBE-4DD3-85BB-B9C764DC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AB42F-7C76-4473-9AA3-2EFB7E1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FFB58-4139-467F-B77F-0592EA90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57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产出文档 / 开发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BBCDF-C38C-40F0-B16C-3156670C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67150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DB2D0-1188-4A5C-BF90-FC57AB53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A6BCB-55EE-4DAC-9077-9117E88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人工验收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322DF-57FA-4ECF-AF9C-F2EE5A9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C02EA-CCD5-4CEC-8BC9-529D9BF4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274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F6006-54E6-4F69-BF43-90656A5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863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SSH 上线</a:t>
            </a:r>
          </a:p>
        </p:txBody>
      </p:sp>
    </p:spTree>
    <p:extLst>
      <p:ext uri="{BB962C8B-B14F-4D97-AF65-F5344CB8AC3E}">
        <p14:creationId xmlns:p14="http://schemas.microsoft.com/office/powerpoint/2010/main" val="1563317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4759A-8C7B-442E-9B84-325440AD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4045C-807E-4C84-9A02-1A47F19B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引言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E8681-F841-4110-8F0E-E2D98DE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64B1-779A-4F12-A2B6-E4100ACC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47E22-18B7-4D07-AB0D-1E39459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历史总是押韵的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63FA5-AA82-4051-AAE9-19A5645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先是表格，后来是 Excel，现在轮到 AI。变化的不是工具名，而是人和流程之间的距离。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8CFEC-63DF-45F3-96EB-0081C2F2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8C386-9ABC-49B9-872F-2E3C2505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E125A-1A07-4744-A95B-0693FC2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3DFF8-B128-4C3E-90EB-A9CDB51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手工算表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7BA8A-0BD1-4433-884A-D9EC078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一个数一个数算。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一条线一条线画。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77B9E-E713-4FDB-A60B-A2D4AF7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过去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E999A-5320-47D2-B5AF-E1D3007E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723BD-671E-4087-9723-4D5DB5A1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21033-9829-43B3-A4C9-30429C65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0D3B6-C236-4165-9FC6-7496A66D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572A8-698A-4BD8-A424-FE114E88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点击、拖拽、公式。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把重复计算交给软件。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8F88B-1D64-47D6-8A7D-DA1FC53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3B83B-37AB-4117-9D85-A8A9244E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A7CF8-2B7A-4C3F-B53C-E9F22C0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F82DA-038D-4FAA-ADA2-713780C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7CCEF-1246-4D33-9E68-52E8D56A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575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20247-FB0F-44AA-A729-B49325F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0045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说明需求。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剩下的交给系统。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F5A00-C749-40FD-ACE1-650D485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4B4DF-B859-4DC3-AF2C-F7ACC85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E8CB1-710C-43A0-B2B5-F7BD089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每一次技术跃迁，都先把“手工活”变成“点击活”。</a:t>
            </a:r>
          </a:p>
        </p:txBody>
      </p:sp>
    </p:spTree>
    <p:extLst>
      <p:ext uri="{BB962C8B-B14F-4D97-AF65-F5344CB8AC3E}">
        <p14:creationId xmlns:p14="http://schemas.microsoft.com/office/powerpoint/2010/main" val="1892466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3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C06F0-F3D9-45A3-8876-13554CB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4C55-F1B7-4C65-B6D2-F3D07FDA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我遇到的那个「表格时刻」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99D97-4D3E-4B06-A413-C4D305F4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23F98-5C32-48BE-8929-9872CB95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当一件小事重复到让你怀疑“这不该是人做的”，变革就来了。</a:t>
            </a:r>
          </a:p>
        </p:txBody>
      </p:sp>
    </p:spTree>
    <p:extLst>
      <p:ext uri="{BB962C8B-B14F-4D97-AF65-F5344CB8AC3E}">
        <p14:creationId xmlns:p14="http://schemas.microsoft.com/office/powerpoint/2010/main" val="1115534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15C945-238D-4606-8DFE-AB705B7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AA1A1-7B95-450D-A5C7-1CF469D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背景 / 资源位配置这件事，到底在干什么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7AE18-476E-47CD-99BF-AE5E32E8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121E9-37EB-4D15-B3D3-30B86E16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2ED45-24D7-493B-851A-2EF52F8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资源位配置不是一个动作，是一条要被反复执行的业务链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9949C-9B7E-4555-AC07-BD68AC4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一句话讲清楚：它是在多个系统之间，把资源、规则、时点和上线动作配成一条能稳定跑通的链路。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24AAA-61D7-44ED-A33B-49D58D6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2001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0098B-9490-4E91-98C6-4A7767D1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9CA9-887B-48AD-B6AD-353D0F08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每周配置次数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A580D-6D2C-4CCB-A8B0-334C11E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12001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058BF-8825-4C5C-87A6-5CF9049E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03B2-3643-4820-A4AF-D6909DA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718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涉及规则数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43B41-2C5A-4B44-9BBE-D66F504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2001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70F3E-0306-4CD0-9F41-9C7C6177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2D3FA-31DD-4F8A-9EB6-0FABAB2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跨系统数量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724D8-6120-4CB5-83B3-35A6D46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0576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60425-0D5F-4741-8AE2-A8E42BD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示意口径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37710-DB3E-48A8-8BF0-EEF447D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58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每一次配置都不是“点几下”那么简单，而是一次跨角色、跨系统、跨时点的联动。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A77F8-31B6-4E38-9D4F-AF86AD63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287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人工链路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CD963-0811-4D92-BAE3-CF9147E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097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C1743-46A0-4EC4-BF24-90F0F83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2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2A062-12F3-4FCE-84AF-D24D738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需求进入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A61E9-80CF-40CF-AA73-71829877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确认目标与范围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F8568-14C7-4838-937E-F9B6078B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28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CFAEF-9851-4EE7-94F5-E7768C3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097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5A36D-D409-453A-A758-3290555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2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61E83-2690-4DE0-87E5-85DA98BA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规则判断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FCFAB-220A-4B41-A54D-2A41810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找对边界与约束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6C36F-0489-476D-9398-08B1DDBC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28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C2266-0E6F-47F2-9EEA-B77B624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97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1488D-BBF0-4E1E-9D16-82AB013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B9363-56D2-4537-91F3-283CC0C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配置执行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6928F4-53BD-4D49-A681-76B0F0E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多系统同步落地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B31645-A224-451D-A951-22258E8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28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E3925C-8D5A-4E36-B4D1-303AE9C6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097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58686-946A-41DB-B0D8-D9B6C4E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1A5A0C-FDF1-4EEA-BDB9-FCD8149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人工复核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A7BE2-F53F-46B5-8C62-8624D308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8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防错、查漏、补齐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42CD7E-6767-42C2-9CB2-87FC261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288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791B8E-F68C-4D94-87C3-A2F38D36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409700"/>
            <a:ext cx="1143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9A5383-7E20-4A5D-9EA5-2C6D9B4B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52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CA8659-1852-4711-B86B-6BE3EF8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885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上线确认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A624E6-3BD2-44AF-9574-8AE166DE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把结果送上生产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24DB59-5252-4E3A-8DD7-CC79D47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537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每一次配置都不是“点几下”那么简单，而是一次跨角色、跨系统、跨时点的联动。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C83633-C6E3-44FD-9C36-0C2E37D5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2E22C8-CB2D-46BC-A59F-78D34557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核心问题：谁来承担这条链路上的重复劳动？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481AED-F497-407A-9578-999F86A4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386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资源位配置 · 业务场景</a:t>
            </a:r>
          </a:p>
        </p:txBody>
      </p:sp>
    </p:spTree>
    <p:extLst>
      <p:ext uri="{BB962C8B-B14F-4D97-AF65-F5344CB8AC3E}">
        <p14:creationId xmlns:p14="http://schemas.microsoft.com/office/powerpoint/2010/main" val="1406076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18D65-69D8-4A1E-8C8D-124F88B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72A8-242E-4187-9766-225F7CD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背景 / 为什么这件事应该由机器做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0122-7553-4D04-B677-D2221792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03AF0-DAFF-476C-97A4-0E083B3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F3B41-2DF8-431B-B359-70B7F23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它耗掉的，不只是时间，还有注意力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0FF4D-EB88-45FF-8F64-AA9C0460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AB567-25A5-46D3-BD27-510F54B0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F7BA3-16CB-4C38-A1D4-929213A8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机械重复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BB5EF-815E-44D8-A7C1-72D8EA8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每次操作几乎一样，却必须全神贯注防出错.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1EB7F-EBFE-4960-9E5D-DAC7529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76400"/>
            <a:ext cx="4953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69C52-FCE8-4346-B635-7BBA1C0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6D972-281D-45CF-8A68-651C7F4A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低 ROI 消耗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086E-D70B-4A13-842F-8E64FA3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大量时间花在“不要出错”，而不是“创造价值”。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A6FBE-0A5E-43A6-9D98-6E458A0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953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23756-C0B5-4ED8-A29F-630FAFFF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6842F-AA40-4FEC-B15A-A38C6D9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出错成本高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3D7A2-3D2D-411B-A8B2-9DC9B704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配置错了影响线上体验，修复还要重新走流程。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25020-65C4-4D10-BB8D-01EF618B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4953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55A65-2B23-4235-93AD-6D858FC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325B9-B8C1-4BCE-8508-ADE7BDF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隐性焦虑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923B8-854C-45DA-9901-C1105EC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知道自己值得做更重要的事，却被琐事填满。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B5E3D-B4EB-4A70-ADF2-912F970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E4AD9-DF2A-4374-8D2C-1685DAB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重复劳动不可耻，但一直重复而不改变，是对自己时间的浪费。</a:t>
            </a:r>
          </a:p>
        </p:txBody>
      </p:sp>
    </p:spTree>
    <p:extLst>
      <p:ext uri="{BB962C8B-B14F-4D97-AF65-F5344CB8AC3E}">
        <p14:creationId xmlns:p14="http://schemas.microsoft.com/office/powerpoint/2010/main" val="69006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C6B811-1FE7-47B5-9B25-DD756C5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E2A6E-E8E5-4B6A-B20A-D14DD50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背景 / 为什么选 AI Coding，而不是传统开发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58B29-2837-45B6-8292-EDE7A635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D41E9-CF08-47DC-BF10-593CA32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28EE9-0F5A-4FB4-8B79-55A95FC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为什么选 AI Coding，而不是传统开发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22DED-8A15-4850-8EE4-0317D9B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差异不在“快一点”，而在“把解决权拿回来”。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6D9B7-BA0F-4EF1-BE0F-402E6276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7B8F2-8EF5-4EAD-AE9B-F3188FA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49530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FA973-890F-4177-A231-83210483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传统路径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3A3E7-D361-4812-857B-1EE2B09F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AI 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CD3C8-D6E8-4481-8FC6-081797C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提需求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排期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开发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测试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上线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AFA0-BD0F-4B50-AE86-5A38B781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说清需求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 出初稿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人工验收</a:t>
            </a:r>
          </a:p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快速上线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9B20-023C-4E6D-9F46-A613ACD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DE941-540E-4CF6-ADAA-8281231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73559-DE7C-4911-8F99-23542CF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周期长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3961F-BDA4-4CDF-8E32-6EAE79D3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F8695-A074-4153-AF18-DD4B4B8F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AB723-F806-4C88-8F19-2D146983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沟通成本高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89CFD-2241-4FCF-AA6B-6E79EF5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22DD3-A966-4603-BB9E-BB5BC41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70678-83D8-4E37-A152-D8F0B79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反馈链路长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D7AA9-3892-4DF3-B492-CB6E270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8FE39-5BFD-4E94-8EB5-EDE20CD1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ECF8D-BB4D-432E-85ED-1D35CF87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自然语言描述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EEBBF-72AB-469C-A27B-B27A9DE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251F9-8FD2-4AAF-9964-4F1C79F7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C32F5-5A85-4F2B-8A25-854652A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 生成框架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F2D2A-0568-4B45-A0C2-4A59A60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53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DD719-B516-4217-9976-E8FDE6A4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1383B-CE19-4DC3-A912-CD250A2B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人负责判断结果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FF0DC0-3E79-4BC4-81CD-2AAF6990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A070B2-CDD3-4EDD-9207-19A539BF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769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4165B7-20B3-42AA-B8F1-00C776B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自己要先把问题讲清，再等别人帮你解决。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B8488C-5156-4A81-B0DB-66067A00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15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从“等别人解决问题”，变成“自己动手解决自己的问题”。</a:t>
            </a:r>
          </a:p>
        </p:txBody>
      </p:sp>
    </p:spTree>
    <p:extLst>
      <p:ext uri="{BB962C8B-B14F-4D97-AF65-F5344CB8AC3E}">
        <p14:creationId xmlns:p14="http://schemas.microsoft.com/office/powerpoint/2010/main" val="1768562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3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B1235-7FAD-435F-925E-70C7087E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F980A-7E75-4A8F-9ACC-928E905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我是怎么用 AI 写出这个程序的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F913E-2467-43AC-8E14-0E0921BF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82B4A-52AD-44B6-A8E8-0DECCBA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不是一键生成，而是人和 AI 反复接力，直到它真的能跑。</a:t>
            </a:r>
          </a:p>
        </p:txBody>
      </p:sp>
    </p:spTree>
    <p:extLst>
      <p:ext uri="{BB962C8B-B14F-4D97-AF65-F5344CB8AC3E}">
        <p14:creationId xmlns:p14="http://schemas.microsoft.com/office/powerpoint/2010/main" val="1104538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A001E-01A9-469E-A39C-42345F98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8C298-548E-4BDC-BD26-1F1516D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原理 / 四步闭环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CD246-19D6-4295-A289-A4C04C0B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08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CB0A0-6B76-4F76-89D9-7CB025A1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B91A3-02A1-42FE-BB95-AEAE08B0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把业务规则翻译成自然语言，再让 AI 把它翻译成代码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7FB8B-EB86-48F1-BE82-ECD816D2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人负责定义问题和判断结果，AI 负责执行层面的编码。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30E54-44CE-46F1-9224-669BE34F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343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73AE9-F0BE-444D-BBF0-CEE8C8B7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FA968-59DE-449C-B8AB-1F70BEF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24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人定义问题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F8647-A810-49A4-B616-1146050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把业务规则、边界和例外说清楚。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6FAA2-B9EA-4116-8A90-B0433358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8734E-D305-4995-A604-A60B4132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2343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D7358-6D57-4FB1-AF72-296507A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F85E4-A0CB-43F0-AEF3-401C7A2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24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 生成初稿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BE66F-6ED7-45F2-A404-0271DECF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38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先出一个能看的骨架，再逐步补齐。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0D286-7712-4671-B198-B19A196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7C20F-4BC4-4232-9122-60B0705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2343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A9DED-1BDA-40F2-9435-E888EAB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0DBC3-9F4B-4DB6-9AAD-695B5B33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人审校联调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9070A-B505-46FF-B2CF-8A8AA20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38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检查逻辑、本地验证、修掉错误。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B8FC3-B801-462C-8A25-76D9F479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A5D74-382E-47AA-9CEF-D33A7A93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343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DF4F5-9B83-4BCD-B75A-C271754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02544-6989-42AA-81FB-8D1C8D4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反馈迭代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E0508-E596-4C77-9439-9EF8A49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发现问题后继续喂回去，直到可用。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2C59F-F817-49DA-A700-B487321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1816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E9A9E-D41F-4FCA-99F5-14394B3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54864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17FA4-C38D-4E8B-B49E-D36F9DC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分工总结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E969A-2023-44DF-9AF7-255033E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人负责“定义问题 + 判断结果”，AI 负责“执行层面的编码”。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6DE6C-5AFD-4F09-8CCB-050DD02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落地方法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142F72-674B-458D-BF15-D1376124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720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先写清楚，再让它写出来；先看结果，再决定要不要继续改。</a:t>
            </a:r>
          </a:p>
        </p:txBody>
      </p:sp>
    </p:spTree>
    <p:extLst>
      <p:ext uri="{BB962C8B-B14F-4D97-AF65-F5344CB8AC3E}">
        <p14:creationId xmlns:p14="http://schemas.microsoft.com/office/powerpoint/2010/main" val="1201992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3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622A8-C695-4DCB-B9E0-21E9B183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9C099-CD29-4E89-91F0-C9AB2DE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做完这件事，到底改变了什么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C44B3-DE23-4EF7-AB21-C387F32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B678C-0DBD-4651-9AC1-7756E84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省出来的不只是时间，更是认知带宽。</a:t>
            </a:r>
          </a:p>
        </p:txBody>
      </p:sp>
    </p:spTree>
    <p:extLst>
      <p:ext uri="{BB962C8B-B14F-4D97-AF65-F5344CB8AC3E}">
        <p14:creationId xmlns:p14="http://schemas.microsoft.com/office/powerpoint/2010/main" val="1407315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37A979-C7C3-46A2-8C58-3033CB98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A575-7F50-4215-A437-4E3320F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价值 / 精力解放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266B5-43DD-45B8-A02C-A803CCC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10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DE09-F711-49B8-AAB1-B4B2F6EC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F241C-A6D5-4BCA-B47C-CA59A42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精力解放：从“被琐事填满”到“聚焦核心”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E53AC-8757-4504-9FFC-94B6EC0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3A530-22EC-42D1-A7EE-D0CB0A1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95300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1F379-4CA9-4C3F-8094-7216C71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EA8A3-0842-42DC-8BD2-4E018B5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66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FBB57-C85F-474E-975B-93B5ABE4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配置事务占掉了大块时间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6BBA2-1453-4EA4-9F62-A165A8A9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省下来的时间被投回核心工作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BB0B-E39A-44E2-AC5F-4A5D511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99D9C-ECCC-4E74-BE04-512DC80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5A8F4-D3EB-4C1C-B427-881C17DB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8080"/>
            <a:ext cx="666750" cy="12268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3AD18-7620-4D7E-B7CC-4BD27906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2935"/>
            <a:ext cx="666750" cy="481965"/>
          </a:xfrm>
          <a:prstGeom xmlns:a="http://schemas.openxmlformats.org/drawingml/2006/main" prst="roundRect">
            <a:avLst>
              <a:gd name="adj" fmla="val 790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4C842-A514-4387-B978-15174711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配置事务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A7DF0-4C8E-4565-83C3-CA1269D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配置事务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1FB78-19E9-44F1-A6CB-CC6CC83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663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11A3C-2FE8-4780-BEE6-2134D5CE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6148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1A9A2-87E5-431A-8630-D08F6A21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FAEDD-412C-4531-8122-0ED43577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F0AA4-C635-4480-8E90-1D10E20F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6115"/>
            <a:ext cx="666750" cy="170878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82F01-6B0C-4E28-A839-71C05AC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70045"/>
            <a:ext cx="666750" cy="74485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E9275-FFBE-42E7-A006-1A7E6E88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确认沟通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24BEF-D8FC-4EA0-BF49-FD6A5793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核心项目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DC515-C5CD-4BB8-99A5-875A9A5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3466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577FCA-8E06-4B4A-A9E4-F545DC7B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859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YY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C48921-C3EB-4178-BBBA-B672CCC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0A027-B8FA-4688-9081-4E0E0AF6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9E657-36F9-4D19-A4A8-24B5383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7155"/>
            <a:ext cx="666750" cy="100774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61AC1-5EFC-4698-8D6B-95A15198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44265"/>
            <a:ext cx="666750" cy="127063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03115D-2203-4018-A0B0-A02517F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修正返工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51BEE-D7A5-4A4A-BAC6-B34B7CE3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策略思考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8A344A-5611-415A-86A6-8A910AE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3570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5943BA-9648-4EBB-BC41-62945DEB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7281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ZZ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E37C7-301E-46CB-9A27-4C42CE83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7E9FC-7EC2-4A1F-8414-6F15BBD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14900"/>
            <a:ext cx="66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261799-9B2E-416E-9CBA-9B2214AA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666750" cy="6572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2BCEC-D588-4877-A22C-6EC3011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7560"/>
            <a:ext cx="666750" cy="15773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6AC5B1-E414-4479-B56D-0C46A90C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其他工作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3E286D-88FB-4931-BD9F-15B5D289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482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每周节省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06228E-3D00-412F-B2D0-CF2F5E52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862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ABE760-6FB3-465D-AAFF-0ED10AAA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6611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+X 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543EC-BB91-43F7-9125-B0C9688D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每周节省 X 小时，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累计 N 个月后，就是一段能重新分配的时间。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399875-6AF6-44BF-86BE-34A43152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003591-74AD-49FC-BAAF-0150BF3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不是“多做了一点事”，而是“终于有时间做该做的事”。</a:t>
            </a:r>
          </a:p>
        </p:txBody>
      </p:sp>
    </p:spTree>
    <p:extLst>
      <p:ext uri="{BB962C8B-B14F-4D97-AF65-F5344CB8AC3E}">
        <p14:creationId xmlns:p14="http://schemas.microsoft.com/office/powerpoint/2010/main" val="1541282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D0E19-414C-4084-B204-839B44A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BAD13-E1AF-4F24-938C-55E848F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价值 / 个人成长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67519-539B-4646-BB20-F0FB05BA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11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94644-4AAB-4365-8465-9A19716C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8F727-9056-4164-BBC0-C30FED5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个人成长：能力边界的拓宽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BDEBF-14FC-4268-8A7C-36D9854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71850" cy="36004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4787-6500-4704-AA9B-E0B14B4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0A668-3C6F-4751-ACE1-9E55E0A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业务纵深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CC9EF-308C-40FF-8195-0091067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为了让 AI 听懂，我反而把业务逻辑梳理得更清楚了。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30B39-276B-4F8F-ABEB-AEB6693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371850" cy="36004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B59A1-DD2D-47A4-839E-67D35904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61E70-9D49-4035-830A-D832232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技术认知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05DE6-777C-4F37-9D93-49004659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从“知道有自动化”变成“亲手实现了一个自动化工具”。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6734E-FE85-4D5F-A6CF-B521C81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3371850" cy="36004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E0BF7-0201-4129-A120-0FDD00F4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FA0BD-89A1-4BF8-808E-7CA2766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人机协作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41E1B-6C2E-43D0-B482-68244A30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学会给 AI 下指令、审校代码、迭代 prompt。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EFBFE-E53F-45AE-817B-F36B759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77000-3098-4FEB-87A5-0746C2CA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工具不会取代人，但会用工具的人会取代不会用工具的人。</a:t>
            </a:r>
          </a:p>
        </p:txBody>
      </p:sp>
    </p:spTree>
    <p:extLst>
      <p:ext uri="{BB962C8B-B14F-4D97-AF65-F5344CB8AC3E}">
        <p14:creationId xmlns:p14="http://schemas.microsoft.com/office/powerpoint/2010/main" val="1625170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D2ADA-CA35-4EEB-9BA9-9F00137B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C907E-CE64-452F-80EC-1DCACE9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价值 / 公司价值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0B194-CC1A-4F98-84C1-C86F16B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DE19-CB4D-4846-8023-84EF7108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38878-3C37-4FEE-8158-61C6D219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公司价值：降本 · 降错 · 可规模化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DCE29-6544-4CD5-90B6-3B03C0F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71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BCD26-49DB-4D68-8C1E-475E2A15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16DDE-6723-4EAD-B517-69F603D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B73D8-061B-4113-A22E-9F20A983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降本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CFAE2-E7C3-47FE-A5B8-B23BC8F3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把重复性的人工操作缩短到更低的成本。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9980A-8FC9-4AA2-A937-2A973A4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71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FA6CE-B26F-4755-9BDF-0D5FA0E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57219-CB2E-44AC-A2D6-F847124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9E5E2-3374-45D2-A3F6-17721B27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降错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2C7E3-140A-4215-ADBC-40B3199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减少人为遗漏、误配和上线前返工。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6F7D0-4C91-4464-A52C-CDF9A44C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3371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AFB99-3F8D-469F-A32D-A655681E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BD160-8CB5-4F6B-A8AD-87304582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XX%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D39B2-ACCC-457C-863A-00E6C97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12703-6DAD-4FFE-8468-81FFA3DA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这套方法可以迁移到更多重复性工作里。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71644-8B4F-4210-AC1C-FA7205E1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9095C-DF65-4233-B164-E5A21C95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真正值得留下来的，是一套“人人可用 AI 提效”的做法。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6D272-1F79-4CB1-937D-BBB793D5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cost / efficiency / quality</a:t>
            </a:r>
          </a:p>
        </p:txBody>
      </p:sp>
    </p:spTree>
    <p:extLst>
      <p:ext uri="{BB962C8B-B14F-4D97-AF65-F5344CB8AC3E}">
        <p14:creationId xmlns:p14="http://schemas.microsoft.com/office/powerpoint/2010/main" val="521874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6B17B-ADB6-4FED-83BD-0A283B9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0A09C-6531-45C2-B5AC-05FD190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价值 / 更深一层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F737B-144F-40DE-9565-612D245D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13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7B5C-EB95-443D-9EA9-5338332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168F3-8E86-4289-AFEF-F63FB21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更深一层：人的劳动价值在深化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333E-4F88-4F30-9840-6274B046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02AFE-1097-433A-9E4A-D9EA63AE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14500"/>
            <a:ext cx="47625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8AC03-CC10-4502-B1C1-DB21E823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过去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B4723-456F-4F2A-B364-D59904A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43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现在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EEEDB-06BD-411D-9ED5-FE850C0F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048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完成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指定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43DB6-2DA7-4D6E-A4BA-0F3ECB37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定义问题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判断结果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持续优化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2038A-BC62-40EB-835F-97631C78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2415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64E36-FBC2-475D-85FD-DE682281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22907-406E-445F-AD38-7AFA9D3D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AI 不是在抢饭碗，而是在倒逼每个人往价值链上游走。</a:t>
            </a:r>
          </a:p>
        </p:txBody>
      </p:sp>
    </p:spTree>
    <p:extLst>
      <p:ext uri="{BB962C8B-B14F-4D97-AF65-F5344CB8AC3E}">
        <p14:creationId xmlns:p14="http://schemas.microsoft.com/office/powerpoint/2010/main" val="9608441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3B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9954E-31D3-40DC-B8A6-4DB34573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未来图景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1B3F5-EFF3-4399-895D-F124587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做完这件事之后，我在想什么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B8DB5-589C-4D86-AE58-19C2933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FE382-C0E8-48D1-A71D-46F6CA2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自动化只是起点，真正的题目是：省下来的时间，最终会流向哪里？</a:t>
            </a:r>
          </a:p>
        </p:txBody>
      </p:sp>
    </p:spTree>
    <p:extLst>
      <p:ext uri="{BB962C8B-B14F-4D97-AF65-F5344CB8AC3E}">
        <p14:creationId xmlns:p14="http://schemas.microsoft.com/office/powerpoint/2010/main" val="1896772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02EFD3-F3BC-4C63-82DE-421FC9E8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solidFill>
              <a:srgbClr val="24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7CB5B-1BB0-496E-BC19-D651C68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3B63"/>
                </a:solidFill>
                <a:latin typeface="PingFang SC"/>
                <a:ea typeface="PingFang SC"/>
                <a:cs typeface="PingFang SC"/>
              </a:rPr>
              <a:t>未来 / 自动化只是起点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C4204-1268-4ADC-8E49-A3D65381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0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0E506-982C-4833-9A97-6959F1C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76F2E-7329-4C9B-A837-AAC8771D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随着 AI 应用极大丰富，用 AI 做自动化会变成最基础、最“无聊”的应用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90F19-A207-410B-B77E-4D473C9D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真正更大的想象力，在于 AI 继续创造新的 AI 应用，而不是只做“替人跑流程”的工具。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0F6E3-9D6A-4ECB-8FD7-FDD0436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A4A0C-812B-4D20-BD35-0EC736F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A259C-EF5C-4E1F-9EAC-7ADC6051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聊天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658B2-8841-41D2-BB6F-2BAE3BE9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C3E4D-6D4F-4F1A-ACDC-F027179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A4BD4-29A6-421C-BF88-985ED1E6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陪伴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C160B-6055-4D51-B939-332D0AC1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26898-5D9A-4EE0-B4BA-A104F4AB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602AA-92BB-458F-A1CD-BF45035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答疑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097D4-AC87-40F4-8ECC-6F640BED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4B5B3-AD4A-4DE8-81E7-D36AD9F1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128DF-2639-466C-8304-9863DCC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陪练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2FB53-08F4-4B4B-91AF-FD13D59C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6B1CA-83ED-490A-9693-0B734D6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FD260-538A-4CF8-9978-2CE06E0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剪视频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63D1A9-434C-4E3E-B953-07B64570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65018-CBCE-4C67-A5E6-3BC5A537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956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69D9C-D7BB-4251-B753-83CF347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做影视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FAC5A-FBC3-4F95-B524-B4CF168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D1FE5-4385-4C64-9481-455F7117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90CD3-1F94-4A0F-8E81-0B39065E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真人 TTS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C5042-594B-49A5-85F2-A5A4C238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476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6F9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5AB33-5E9B-4ACA-BDCB-FF7B35E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67736-6063-4567-9D49-3D5BE89E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自动工作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00F5A-1946-4292-A8C3-7653296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8EE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0DD41-0BDA-462A-9D66-43DBD14A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你所在的工作流里，还有哪些“该机器做”的事？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84F83-8298-4C21-8F1C-02CD6814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省下来的时间，你打算用来做什么？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BCD47-742A-46C1-8907-8451C38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76665-0C43-4FBA-9A2B-C301E731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技术的意义，从来不是让人跑得更快，而是让人有机会停下来想一想——该往哪个方向跑。</a:t>
            </a:r>
          </a:p>
        </p:txBody>
      </p:sp>
    </p:spTree>
    <p:extLst>
      <p:ext uri="{BB962C8B-B14F-4D97-AF65-F5344CB8AC3E}">
        <p14:creationId xmlns:p14="http://schemas.microsoft.com/office/powerpoint/2010/main" val="507621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92835-820B-4CFD-8FF5-352D679D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3"/>
          </a:solidFill>
          <a:ln xmlns:a="http://schemas.openxmlformats.org/drawingml/2006/main" w="0">
            <a:solidFill>
              <a:srgbClr val="163B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5117B-665F-49EC-9FC9-47DC80E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谢谢观看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8C18-B4CE-4183-8B11-207DBD5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如果这件事带来了一点启发，那它真正值得传播的，不只是自动化本身，而是把重复劳动交出去的那种可能。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A719A-B432-4130-ADAC-D15D4C3F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2FA2F-1F0A-4820-9D0F-E5359B6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463EB"/>
                </a:solidFill>
                <a:latin typeface="PingFang SC"/>
                <a:ea typeface="PingFang SC"/>
                <a:cs typeface="PingFang SC"/>
              </a:rPr>
              <a:t>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D5777-C1F0-46A7-B9B4-1C77CD2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F172A"/>
                </a:solidFill>
                <a:latin typeface="PingFang SC"/>
                <a:ea typeface="PingFang SC"/>
                <a:cs typeface="PingFang SC"/>
              </a:rPr>
              <a:t>姓名 / 部门 / 联系方式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B12F3-F752-45CB-AC8E-7AD6E2A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464820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63B63"/>
          </a:solidFill>
          <a:ln xmlns:a="http://schemas.openxmlformats.org/drawingml/2006/main" w="9525">
            <a:solidFill>
              <a:srgbClr val="163B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EF165-1615-4BF5-AE94-D1440191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资源位自动化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E6A3F-9D1E-44DD-80B3-95767703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把重复劳动交出去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把时间还给更重要的事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E64F1-FCD1-46F6-948B-0520F6F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624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97C10-46DF-465C-AA12-A3730BB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1010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86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>
                    <a:alpha val="86000"/>
                  </a:srgbClr>
                </a:solidFill>
                <a:latin typeface="PingFang SC"/>
                <a:ea typeface="PingFang SC"/>
                <a:cs typeface="PingFang SC"/>
              </a:rPr>
              <a:t>欢迎提问</a:t>
            </a:r>
          </a:p>
        </p:txBody>
      </p:sp>
    </p:spTree>
    <p:extLst>
      <p:ext uri="{BB962C8B-B14F-4D97-AF65-F5344CB8AC3E}">
        <p14:creationId xmlns:p14="http://schemas.microsoft.com/office/powerpoint/2010/main" val="1858297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2026-08-23T11:10:02.1970000Z</dcterms:created>
  <dcterms:modified xsi:type="dcterms:W3CDTF">2026-08-23T11:10:02.1970000Z</dcterms:modified>
</coreProperties>
</file>