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68f2aa3fc4e29" /><Relationship Type="http://schemas.openxmlformats.org/officeDocument/2006/relationships/extended-properties" Target="/docProps/app.xml" Id="R52f45a5da3df44f4" /><Relationship Type="http://schemas.openxmlformats.org/officeDocument/2006/relationships/officeDocument" Target="/ppt/presentation.xml" Id="R8f8e013b27dc43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e7df0e2114432"/>
  </p:sldMasterIdLst>
  <p:notesMasterIdLst>
    <p:notesMasterId xmlns:r="http://schemas.openxmlformats.org/officeDocument/2006/relationships" r:id="Rb082406855ba4645"/>
  </p:notesMasterIdLst>
  <p:sldIdLst>
    <p:sldId xmlns:r="http://schemas.openxmlformats.org/officeDocument/2006/relationships" id="256" r:id="Rede2cdfb3cd64e7a"/>
    <p:sldId xmlns:r="http://schemas.openxmlformats.org/officeDocument/2006/relationships" id="257" r:id="R50267f2b918a4ddb"/>
    <p:sldId xmlns:r="http://schemas.openxmlformats.org/officeDocument/2006/relationships" id="258" r:id="Re87e1c79fd7342ed"/>
    <p:sldId xmlns:r="http://schemas.openxmlformats.org/officeDocument/2006/relationships" id="259" r:id="R3275585f86b44ccb"/>
    <p:sldId xmlns:r="http://schemas.openxmlformats.org/officeDocument/2006/relationships" id="260" r:id="R1a5717fb578840ae"/>
    <p:sldId xmlns:r="http://schemas.openxmlformats.org/officeDocument/2006/relationships" id="261" r:id="R0c42a1c06eb14a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7425619a0410a" /><Relationship Type="http://schemas.openxmlformats.org/officeDocument/2006/relationships/slideMaster" Target="/ppt/slideMasters/slideMaster1.xml" Id="R2cae7df0e2114432" /><Relationship Type="http://schemas.openxmlformats.org/officeDocument/2006/relationships/notesMaster" Target="/ppt/notesMasters/notesMaster1.xml" Id="Rb082406855ba4645" /><Relationship Type="http://schemas.openxmlformats.org/officeDocument/2006/relationships/presProps" Target="/ppt/presProps.xml" Id="R46edde83b6914bdc" /><Relationship Type="http://schemas.openxmlformats.org/officeDocument/2006/relationships/tableStyles" Target="/ppt/tableStyles.xml" Id="Rbe223b1f0d0a4a21" /><Relationship Type="http://schemas.openxmlformats.org/officeDocument/2006/relationships/slide" Target="/ppt/slides/slide1.xml" Id="Rede2cdfb3cd64e7a" /><Relationship Type="http://schemas.openxmlformats.org/officeDocument/2006/relationships/slide" Target="/ppt/slides/slide2.xml" Id="R50267f2b918a4ddb" /><Relationship Type="http://schemas.openxmlformats.org/officeDocument/2006/relationships/slide" Target="/ppt/slides/slide3.xml" Id="Re87e1c79fd7342ed" /><Relationship Type="http://schemas.openxmlformats.org/officeDocument/2006/relationships/slide" Target="/ppt/slides/slide4.xml" Id="R3275585f86b44ccb" /><Relationship Type="http://schemas.openxmlformats.org/officeDocument/2006/relationships/slide" Target="/ppt/slides/slide5.xml" Id="R1a5717fb578840ae" /><Relationship Type="http://schemas.openxmlformats.org/officeDocument/2006/relationships/slide" Target="/ppt/slides/slide6.xml" Id="R0c42a1c06eb1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75eb23c03543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0fa128c72448c" /><Relationship Type="http://schemas.openxmlformats.org/officeDocument/2006/relationships/notesMaster" Target="/ppt/notesMasters/notesMaster1.xml" Id="Rf99246939ae54f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7d535031c7471f" /><Relationship Type="http://schemas.openxmlformats.org/officeDocument/2006/relationships/notesMaster" Target="/ppt/notesMasters/notesMaster1.xml" Id="R99669a98f3c5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4440c05d5439f" /><Relationship Type="http://schemas.openxmlformats.org/officeDocument/2006/relationships/notesMaster" Target="/ppt/notesMasters/notesMaster1.xml" Id="R464fc64537ee49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55eab503ec47c5" /><Relationship Type="http://schemas.openxmlformats.org/officeDocument/2006/relationships/notesMaster" Target="/ppt/notesMasters/notesMaster1.xml" Id="Re3fdb58a5b3e45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f76a96f8342e7" /><Relationship Type="http://schemas.openxmlformats.org/officeDocument/2006/relationships/notesMaster" Target="/ppt/notesMasters/notesMaster1.xml" Id="Re54ad31cbf154d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651589128f474a" /><Relationship Type="http://schemas.openxmlformats.org/officeDocument/2006/relationships/notesMaster" Target="/ppt/notesMasters/notesMaster1.xml" Id="Rdceda554719b4f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开场先讲“流程被 AI 改写”这个直觉，不直接进入功能清单。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【宣讲PPT】资源位AI-automation, fetched via lark-cli on 2026-08-23.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这一页只做类比，不做技术证明。</a:t>
            </a:r>
          </a:p>
          <a:p xmlns:a="http://schemas.openxmlformats.org/drawingml/2006/main">
            <a:r>
              <a:t>重点是让听众接受：AI 接管流程是工具演化的下一步，不是孤立功能。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wiki:【宣讲PPT】资源位AI-automation。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这一页把“为什么做”讲透：不是追求自动化本身，而是因为手工沟通链条过长。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wiki:【宣讲PPT】资源位AI-automation。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讲清“how”的关键是：不是所有步骤都自动化，而是让 AI 参与每个关键节点。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wiki:【宣讲PPT】资源位AI-automation。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这页要强调价值迁移：节省下来的不是时间而已，而是认知带宽。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wiki:【宣讲PPT】资源位AI-automation。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结尾不要落在工具说明上，要落到价值重构和下一步想象。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wiki:【宣讲PPT】资源位AI-automation。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285a16157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1e8a07cd09454f" /><Relationship Type="http://schemas.openxmlformats.org/officeDocument/2006/relationships/slideLayout" Target="/ppt/slideLayouts/slideLayout1.xml" Id="Rb7f10137ef4d43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10137ef4d43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33a10a6ab4850" /><Relationship Type="http://schemas.openxmlformats.org/officeDocument/2006/relationships/notesSlide" Target="/ppt/notesSlides/notesSlide1.xml" Id="R1b1940ce773740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925cfd3c5486e" /><Relationship Type="http://schemas.openxmlformats.org/officeDocument/2006/relationships/notesSlide" Target="/ppt/notesSlides/notesSlide2.xml" Id="R67507889a2ec4d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fa8ddee364fef" /><Relationship Type="http://schemas.openxmlformats.org/officeDocument/2006/relationships/notesSlide" Target="/ppt/notesSlides/notesSlide3.xml" Id="R3e487b3c5bdf4f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ba5f6c2464cea" /><Relationship Type="http://schemas.openxmlformats.org/officeDocument/2006/relationships/notesSlide" Target="/ppt/notesSlides/notesSlide4.xml" Id="Ra9fc628147e64e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bc30cc19f4928" /><Relationship Type="http://schemas.openxmlformats.org/officeDocument/2006/relationships/notesSlide" Target="/ppt/notesSlides/notesSlide5.xml" Id="R95448cb9f08e48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ca6e0ffd54d67" /><Relationship Type="http://schemas.openxmlformats.org/officeDocument/2006/relationships/notesSlide" Target="/ppt/notesSlides/notesSlide6.xml" Id="Rea945e4f9b9945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g">
            <a:extLst xmlns:a="http://schemas.openxmlformats.org/drawingml/2006/main">
              <a:ext uri="{FF2B5EF4-FFF2-40B4-BE49-F238E27FC236}">
                <a16:creationId xmlns:a16="http://schemas.microsoft.com/office/drawing/2014/main" id="{91D8D921-913B-4903-859D-D13F680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F6ED1B2B-39AE-418E-9D47-13426467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rail">
            <a:extLst xmlns:a="http://schemas.openxmlformats.org/drawingml/2006/main">
              <a:ext uri="{FF2B5EF4-FFF2-40B4-BE49-F238E27FC236}">
                <a16:creationId xmlns:a16="http://schemas.microsoft.com/office/drawing/2014/main" id="{B1A27A82-CC5A-4904-A912-4EA53529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ight-rail-accent">
            <a:extLst xmlns:a="http://schemas.openxmlformats.org/drawingml/2006/main">
              <a:ext uri="{FF2B5EF4-FFF2-40B4-BE49-F238E27FC236}">
                <a16:creationId xmlns:a16="http://schemas.microsoft.com/office/drawing/2014/main" id="{6A25A607-BCD5-496B-AE04-0EADD92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19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96C7B0A-25C7-4233-95F5-2440F0F0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DDDD5"/>
                </a:solidFill>
              </a:defRPr>
            </a:pPr>
            <a:r>
              <a:rPr sz="1500" b="1">
                <a:solidFill>
                  <a:srgbClr val="8DDDD5"/>
                </a:solidFill>
              </a:rPr>
              <a:t>宣讲PPT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4B53D65-887F-4B74-8248-D943161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当 AI 接管流程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运营的角色会怎样变化？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2E7A9A-79F1-47B1-A904-9F04E1A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4E5"/>
                </a:solidFill>
              </a:defRPr>
            </a:pPr>
            <a:r>
              <a:rPr sz="1650" b="0">
                <a:solidFill>
                  <a:srgbClr val="C8D4E5"/>
                </a:solidFill>
              </a:rPr>
              <a:t>从资源位配置出发，讲一个人如何把重复劳动压缩成自动闭环，</a:t>
            </a:r>
          </a:p>
          <a:p xmlns:a="http://schemas.openxmlformats.org/drawingml/2006/main">
            <a:pPr>
              <a:defRPr sz="1650" b="0">
                <a:solidFill>
                  <a:srgbClr val="C8D4E5"/>
                </a:solidFill>
              </a:defRPr>
            </a:pPr>
            <a:r>
              <a:rPr sz="1650" b="0">
                <a:solidFill>
                  <a:srgbClr val="C8D4E5"/>
                </a:solidFill>
              </a:rPr>
              <a:t>再把腾出来的时间，重新投向策略和创造。</a:t>
            </a:r>
          </a:p>
        </p:txBody>
      </p:sp>
      <p:sp>
        <p:nvSpPr>
          <p:cNvPr id="8" name="cover-line">
            <a:extLst xmlns:a="http://schemas.openxmlformats.org/drawingml/2006/main">
              <a:ext uri="{FF2B5EF4-FFF2-40B4-BE49-F238E27FC236}">
                <a16:creationId xmlns:a16="http://schemas.microsoft.com/office/drawing/2014/main" id="{31A7C213-ADCD-45A2-993F-5FD4C8A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tag">
            <a:extLst xmlns:a="http://schemas.openxmlformats.org/drawingml/2006/main">
              <a:ext uri="{FF2B5EF4-FFF2-40B4-BE49-F238E27FC236}">
                <a16:creationId xmlns:a16="http://schemas.microsoft.com/office/drawing/2014/main" id="{A1F1861A-D169-448F-9A37-A2C7F5FD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资源位 AI-automation</a:t>
            </a:r>
          </a:p>
        </p:txBody>
      </p:sp>
      <p:sp>
        <p:nvSpPr>
          <p:cNvPr id="10" name="cover-step-1">
            <a:extLst xmlns:a="http://schemas.openxmlformats.org/drawingml/2006/main">
              <a:ext uri="{FF2B5EF4-FFF2-40B4-BE49-F238E27FC236}">
                <a16:creationId xmlns:a16="http://schemas.microsoft.com/office/drawing/2014/main" id="{88721E67-3813-4F2B-A517-0100E6A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2724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11" name="cover-step-text-1">
            <a:extLst xmlns:a="http://schemas.openxmlformats.org/drawingml/2006/main">
              <a:ext uri="{FF2B5EF4-FFF2-40B4-BE49-F238E27FC236}">
                <a16:creationId xmlns:a16="http://schemas.microsoft.com/office/drawing/2014/main" id="{E17C17A4-5553-4006-BB40-4B57B3C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2E8F0"/>
                </a:solidFill>
              </a:defRPr>
            </a:pPr>
            <a:r>
              <a:rPr sz="1650" b="1">
                <a:solidFill>
                  <a:srgbClr val="E2E8F0"/>
                </a:solidFill>
              </a:rPr>
              <a:t>需求进入</a:t>
            </a:r>
          </a:p>
        </p:txBody>
      </p:sp>
      <p:sp>
        <p:nvSpPr>
          <p:cNvPr id="12" name="cover-step-2">
            <a:extLst xmlns:a="http://schemas.openxmlformats.org/drawingml/2006/main">
              <a:ext uri="{FF2B5EF4-FFF2-40B4-BE49-F238E27FC236}">
                <a16:creationId xmlns:a16="http://schemas.microsoft.com/office/drawing/2014/main" id="{B28B12D4-E128-44A9-B2EE-321AE104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2724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3A39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3" name="cover-step-text-2">
            <a:extLst xmlns:a="http://schemas.openxmlformats.org/drawingml/2006/main">
              <a:ext uri="{FF2B5EF4-FFF2-40B4-BE49-F238E27FC236}">
                <a16:creationId xmlns:a16="http://schemas.microsoft.com/office/drawing/2014/main" id="{2A76CF61-F548-41A2-8B79-5C6A601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1FAE5"/>
                </a:solidFill>
              </a:defRPr>
            </a:pPr>
            <a:r>
              <a:rPr sz="1650" b="1">
                <a:solidFill>
                  <a:srgbClr val="D1FAE5"/>
                </a:solidFill>
              </a:rPr>
              <a:t>AI 完善边界</a:t>
            </a:r>
          </a:p>
        </p:txBody>
      </p:sp>
      <p:sp>
        <p:nvSpPr>
          <p:cNvPr id="14" name="cover-step-3">
            <a:extLst xmlns:a="http://schemas.openxmlformats.org/drawingml/2006/main">
              <a:ext uri="{FF2B5EF4-FFF2-40B4-BE49-F238E27FC236}">
                <a16:creationId xmlns:a16="http://schemas.microsoft.com/office/drawing/2014/main" id="{39E2A05A-2C4D-4182-A354-CB15250D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2724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E3F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15" name="cover-step-text-3">
            <a:extLst xmlns:a="http://schemas.openxmlformats.org/drawingml/2006/main">
              <a:ext uri="{FF2B5EF4-FFF2-40B4-BE49-F238E27FC236}">
                <a16:creationId xmlns:a16="http://schemas.microsoft.com/office/drawing/2014/main" id="{56E3735B-1A99-4DA6-9BA7-D8941EF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0E7FF"/>
                </a:solidFill>
              </a:defRPr>
            </a:pPr>
            <a:r>
              <a:rPr sz="1650" b="1">
                <a:solidFill>
                  <a:srgbClr val="E0E7FF"/>
                </a:solidFill>
              </a:rPr>
              <a:t>产出文档 / 开发</a:t>
            </a:r>
          </a:p>
        </p:txBody>
      </p:sp>
      <p:sp>
        <p:nvSpPr>
          <p:cNvPr id="16" name="cover-step-4">
            <a:extLst xmlns:a="http://schemas.openxmlformats.org/drawingml/2006/main">
              <a:ext uri="{FF2B5EF4-FFF2-40B4-BE49-F238E27FC236}">
                <a16:creationId xmlns:a16="http://schemas.microsoft.com/office/drawing/2014/main" id="{334195FC-8121-4F16-AD92-4A056485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2724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A2A1D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17" name="cover-step-text-4">
            <a:extLst xmlns:a="http://schemas.openxmlformats.org/drawingml/2006/main">
              <a:ext uri="{FF2B5EF4-FFF2-40B4-BE49-F238E27FC236}">
                <a16:creationId xmlns:a16="http://schemas.microsoft.com/office/drawing/2014/main" id="{BDFC74B1-E78D-4F0F-9C03-B419FE41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DE68A"/>
                </a:solidFill>
              </a:defRPr>
            </a:pPr>
            <a:r>
              <a:rPr sz="1650" b="1">
                <a:solidFill>
                  <a:srgbClr val="FDE68A"/>
                </a:solidFill>
              </a:rPr>
              <a:t>人工验收</a:t>
            </a:r>
          </a:p>
        </p:txBody>
      </p:sp>
      <p:sp>
        <p:nvSpPr>
          <p:cNvPr id="18" name="cover-step-5">
            <a:extLst xmlns:a="http://schemas.openxmlformats.org/drawingml/2006/main">
              <a:ext uri="{FF2B5EF4-FFF2-40B4-BE49-F238E27FC236}">
                <a16:creationId xmlns:a16="http://schemas.microsoft.com/office/drawing/2014/main" id="{FEC94A81-BDB1-4C73-8AEF-2BA6FA5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81550"/>
            <a:ext cx="2724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19" name="cover-step-text-5">
            <a:extLst xmlns:a="http://schemas.openxmlformats.org/drawingml/2006/main">
              <a:ext uri="{FF2B5EF4-FFF2-40B4-BE49-F238E27FC236}">
                <a16:creationId xmlns:a16="http://schemas.microsoft.com/office/drawing/2014/main" id="{BDA7A812-721D-430C-9987-25C1FB2F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14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SSH 上线</a:t>
            </a:r>
          </a:p>
        </p:txBody>
      </p:sp>
      <p:sp>
        <p:nvSpPr>
          <p:cNvPr id="20" name="slide-num-1">
            <a:extLst xmlns:a="http://schemas.openxmlformats.org/drawingml/2006/main">
              <a:ext uri="{FF2B5EF4-FFF2-40B4-BE49-F238E27FC236}">
                <a16:creationId xmlns:a16="http://schemas.microsoft.com/office/drawing/2014/main" id="{9ED100F5-1767-475C-8F44-656FDE83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A3BF"/>
                </a:solidFill>
              </a:defRPr>
            </a:pPr>
            <a:r>
              <a:rPr sz="1200" b="1">
                <a:solidFill>
                  <a:srgbClr val="8CA3B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1721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g">
            <a:extLst xmlns:a="http://schemas.openxmlformats.org/drawingml/2006/main">
              <a:ext uri="{FF2B5EF4-FFF2-40B4-BE49-F238E27FC236}">
                <a16:creationId xmlns:a16="http://schemas.microsoft.com/office/drawing/2014/main" id="{1C27EE07-6297-45E1-8FF8-46D0EF3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strip">
            <a:extLst xmlns:a="http://schemas.openxmlformats.org/drawingml/2006/main">
              <a:ext uri="{FF2B5EF4-FFF2-40B4-BE49-F238E27FC236}">
                <a16:creationId xmlns:a16="http://schemas.microsoft.com/office/drawing/2014/main" id="{9D6808A7-FF1B-4F63-88E9-A40DE7E2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7A37C76-D1AE-4593-8594-30491BC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引言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438655-0CC5-4C17-8FD0-BB27B4C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每一次技术跃迁，都会先把“手工活”变成“点击活”</a:t>
            </a:r>
          </a:p>
        </p:txBody>
      </p:sp>
      <p:sp>
        <p:nvSpPr>
          <p:cNvPr id="5" name="lede">
            <a:extLst xmlns:a="http://schemas.openxmlformats.org/drawingml/2006/main">
              <a:ext uri="{FF2B5EF4-FFF2-40B4-BE49-F238E27FC236}">
                <a16:creationId xmlns:a16="http://schemas.microsoft.com/office/drawing/2014/main" id="{063B1A59-483F-4B47-990A-6B19DB43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先是表格，后来是 Excel，现在轮到 AI。变化的不是工具名，而是人和流程之间的距离。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C539368B-1874-4C85-B9D7-46C9E223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ra-1">
            <a:extLst xmlns:a="http://schemas.openxmlformats.org/drawingml/2006/main">
              <a:ext uri="{FF2B5EF4-FFF2-40B4-BE49-F238E27FC236}">
                <a16:creationId xmlns:a16="http://schemas.microsoft.com/office/drawing/2014/main" id="{9EFA59C8-DA5D-4F30-A36B-FDDC6F1D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era-badge-1">
            <a:extLst xmlns:a="http://schemas.openxmlformats.org/drawingml/2006/main">
              <a:ext uri="{FF2B5EF4-FFF2-40B4-BE49-F238E27FC236}">
                <a16:creationId xmlns:a16="http://schemas.microsoft.com/office/drawing/2014/main" id="{04107BB8-A4C2-4FD2-997C-E3CE415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ra-num-1">
            <a:extLst xmlns:a="http://schemas.openxmlformats.org/drawingml/2006/main">
              <a:ext uri="{FF2B5EF4-FFF2-40B4-BE49-F238E27FC236}">
                <a16:creationId xmlns:a16="http://schemas.microsoft.com/office/drawing/2014/main" id="{82FED324-9B67-41C5-B926-8B9A271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00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era-title-1">
            <a:extLst xmlns:a="http://schemas.openxmlformats.org/drawingml/2006/main">
              <a:ext uri="{FF2B5EF4-FFF2-40B4-BE49-F238E27FC236}">
                <a16:creationId xmlns:a16="http://schemas.microsoft.com/office/drawing/2014/main" id="{A58C0396-6E26-48EF-BFC5-B00EF85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手工算表</a:t>
            </a:r>
          </a:p>
        </p:txBody>
      </p:sp>
      <p:sp>
        <p:nvSpPr>
          <p:cNvPr id="11" name="era-desc-1">
            <a:extLst xmlns:a="http://schemas.openxmlformats.org/drawingml/2006/main">
              <a:ext uri="{FF2B5EF4-FFF2-40B4-BE49-F238E27FC236}">
                <a16:creationId xmlns:a16="http://schemas.microsoft.com/office/drawing/2014/main" id="{04F474B7-4F16-4DA7-83B9-F269EABE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一个数一个数算</a:t>
            </a:r>
          </a:p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一条线一条线画</a:t>
            </a:r>
          </a:p>
        </p:txBody>
      </p:sp>
      <p:sp>
        <p:nvSpPr>
          <p:cNvPr id="12" name="era-tag-1">
            <a:extLst xmlns:a="http://schemas.openxmlformats.org/drawingml/2006/main">
              <a:ext uri="{FF2B5EF4-FFF2-40B4-BE49-F238E27FC236}">
                <a16:creationId xmlns:a16="http://schemas.microsoft.com/office/drawing/2014/main" id="{C5339279-7728-4022-9F14-57E63123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047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ra-tag-text-1">
            <a:extLst xmlns:a="http://schemas.openxmlformats.org/drawingml/2006/main">
              <a:ext uri="{FF2B5EF4-FFF2-40B4-BE49-F238E27FC236}">
                <a16:creationId xmlns:a16="http://schemas.microsoft.com/office/drawing/2014/main" id="{122BBB2E-E33A-4A94-9FE7-4AB154B5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过去</a:t>
            </a:r>
          </a:p>
        </p:txBody>
      </p:sp>
      <p:sp>
        <p:nvSpPr>
          <p:cNvPr id="14" name="era-2">
            <a:extLst xmlns:a="http://schemas.openxmlformats.org/drawingml/2006/main">
              <a:ext uri="{FF2B5EF4-FFF2-40B4-BE49-F238E27FC236}">
                <a16:creationId xmlns:a16="http://schemas.microsoft.com/office/drawing/2014/main" id="{0CFE642E-EE8F-4DE3-8E3F-1CA2C77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2990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era-badge-2">
            <a:extLst xmlns:a="http://schemas.openxmlformats.org/drawingml/2006/main">
              <a:ext uri="{FF2B5EF4-FFF2-40B4-BE49-F238E27FC236}">
                <a16:creationId xmlns:a16="http://schemas.microsoft.com/office/drawing/2014/main" id="{16354D24-C16C-49A1-B32E-59214939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ra-num-2">
            <a:extLst xmlns:a="http://schemas.openxmlformats.org/drawingml/2006/main">
              <a:ext uri="{FF2B5EF4-FFF2-40B4-BE49-F238E27FC236}">
                <a16:creationId xmlns:a16="http://schemas.microsoft.com/office/drawing/2014/main" id="{450C253A-F98E-4783-A298-68F406F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era-title-2">
            <a:extLst xmlns:a="http://schemas.openxmlformats.org/drawingml/2006/main">
              <a:ext uri="{FF2B5EF4-FFF2-40B4-BE49-F238E27FC236}">
                <a16:creationId xmlns:a16="http://schemas.microsoft.com/office/drawing/2014/main" id="{2DA7349D-C178-4CC8-817A-9808067B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Excel</a:t>
            </a:r>
          </a:p>
        </p:txBody>
      </p:sp>
      <p:sp>
        <p:nvSpPr>
          <p:cNvPr id="18" name="era-desc-2">
            <a:extLst xmlns:a="http://schemas.openxmlformats.org/drawingml/2006/main">
              <a:ext uri="{FF2B5EF4-FFF2-40B4-BE49-F238E27FC236}">
                <a16:creationId xmlns:a16="http://schemas.microsoft.com/office/drawing/2014/main" id="{527201CF-4884-4428-BC22-55D12DCB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点击、拖拽、公式</a:t>
            </a:r>
          </a:p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把重复计算交给软件</a:t>
            </a:r>
          </a:p>
        </p:txBody>
      </p:sp>
      <p:sp>
        <p:nvSpPr>
          <p:cNvPr id="19" name="era-tag-2">
            <a:extLst xmlns:a="http://schemas.openxmlformats.org/drawingml/2006/main">
              <a:ext uri="{FF2B5EF4-FFF2-40B4-BE49-F238E27FC236}">
                <a16:creationId xmlns:a16="http://schemas.microsoft.com/office/drawing/2014/main" id="{5E9ED521-BA0E-485A-9711-E5407751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1047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ra-tag-text-2">
            <a:extLst xmlns:a="http://schemas.openxmlformats.org/drawingml/2006/main">
              <a:ext uri="{FF2B5EF4-FFF2-40B4-BE49-F238E27FC236}">
                <a16:creationId xmlns:a16="http://schemas.microsoft.com/office/drawing/2014/main" id="{A9BD97D0-4C16-4593-801F-0867564D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现在</a:t>
            </a:r>
          </a:p>
        </p:txBody>
      </p:sp>
      <p:sp>
        <p:nvSpPr>
          <p:cNvPr id="21" name="era-3">
            <a:extLst xmlns:a="http://schemas.openxmlformats.org/drawingml/2006/main">
              <a:ext uri="{FF2B5EF4-FFF2-40B4-BE49-F238E27FC236}">
                <a16:creationId xmlns:a16="http://schemas.microsoft.com/office/drawing/2014/main" id="{4B14A307-EDFE-4739-92D9-2B0095D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2990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era-badge-3">
            <a:extLst xmlns:a="http://schemas.openxmlformats.org/drawingml/2006/main">
              <a:ext uri="{FF2B5EF4-FFF2-40B4-BE49-F238E27FC236}">
                <a16:creationId xmlns:a16="http://schemas.microsoft.com/office/drawing/2014/main" id="{5AEDD4ED-3F2E-4E1F-93A8-21E99993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67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ra-num-3">
            <a:extLst xmlns:a="http://schemas.openxmlformats.org/drawingml/2006/main">
              <a:ext uri="{FF2B5EF4-FFF2-40B4-BE49-F238E27FC236}">
                <a16:creationId xmlns:a16="http://schemas.microsoft.com/office/drawing/2014/main" id="{C64BE4E2-67A1-499D-BCD5-613CCC15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00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era-title-3">
            <a:extLst xmlns:a="http://schemas.openxmlformats.org/drawingml/2006/main">
              <a:ext uri="{FF2B5EF4-FFF2-40B4-BE49-F238E27FC236}">
                <a16:creationId xmlns:a16="http://schemas.microsoft.com/office/drawing/2014/main" id="{D3CD636F-A838-4847-922A-19A001D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AI</a:t>
            </a:r>
          </a:p>
        </p:txBody>
      </p:sp>
      <p:sp>
        <p:nvSpPr>
          <p:cNvPr id="25" name="era-desc-3">
            <a:extLst xmlns:a="http://schemas.openxmlformats.org/drawingml/2006/main">
              <a:ext uri="{FF2B5EF4-FFF2-40B4-BE49-F238E27FC236}">
                <a16:creationId xmlns:a16="http://schemas.microsoft.com/office/drawing/2014/main" id="{5C86DA2B-39C3-4F1E-A26C-94659E7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290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说明需求</a:t>
            </a:r>
          </a:p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剩下的交给系统</a:t>
            </a:r>
          </a:p>
        </p:txBody>
      </p:sp>
      <p:sp>
        <p:nvSpPr>
          <p:cNvPr id="26" name="era-tag-3">
            <a:extLst xmlns:a="http://schemas.openxmlformats.org/drawingml/2006/main">
              <a:ext uri="{FF2B5EF4-FFF2-40B4-BE49-F238E27FC236}">
                <a16:creationId xmlns:a16="http://schemas.microsoft.com/office/drawing/2014/main" id="{17C1084C-0E6B-491C-9CA8-4B4B8BA4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1047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ra-tag-text-3">
            <a:extLst xmlns:a="http://schemas.openxmlformats.org/drawingml/2006/main">
              <a:ext uri="{FF2B5EF4-FFF2-40B4-BE49-F238E27FC236}">
                <a16:creationId xmlns:a16="http://schemas.microsoft.com/office/drawing/2014/main" id="{38394E73-C082-4F9A-B099-0CFE1680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28" name="slide-num-2">
            <a:extLst xmlns:a="http://schemas.openxmlformats.org/drawingml/2006/main">
              <a:ext uri="{FF2B5EF4-FFF2-40B4-BE49-F238E27FC236}">
                <a16:creationId xmlns:a16="http://schemas.microsoft.com/office/drawing/2014/main" id="{8E02837B-AFD9-40AA-AE50-5B57A614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6089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g">
            <a:extLst xmlns:a="http://schemas.openxmlformats.org/drawingml/2006/main">
              <a:ext uri="{FF2B5EF4-FFF2-40B4-BE49-F238E27FC236}">
                <a16:creationId xmlns:a16="http://schemas.microsoft.com/office/drawing/2014/main" id="{85B118F2-AE2D-4749-B793-31CB4E9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strip">
            <a:extLst xmlns:a="http://schemas.openxmlformats.org/drawingml/2006/main">
              <a:ext uri="{FF2B5EF4-FFF2-40B4-BE49-F238E27FC236}">
                <a16:creationId xmlns:a16="http://schemas.microsoft.com/office/drawing/2014/main" id="{F469978E-3CEA-43AF-83A3-30868FD4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403FC9B-6164-4F63-9A7C-A3A822B1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3F5E"/>
                </a:solidFill>
              </a:defRPr>
            </a:pPr>
            <a:r>
              <a:rPr sz="1350" b="1">
                <a:solidFill>
                  <a:srgbClr val="F43F5E"/>
                </a:solidFill>
              </a:rPr>
              <a:t>为什么要做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6947EE-4227-4840-AF8B-4D2B1423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最耗时的，不是配置本身，而是反复沟通</a:t>
            </a:r>
          </a:p>
        </p:txBody>
      </p:sp>
      <p:sp>
        <p:nvSpPr>
          <p:cNvPr id="5" name="lede">
            <a:extLst xmlns:a="http://schemas.openxmlformats.org/drawingml/2006/main">
              <a:ext uri="{FF2B5EF4-FFF2-40B4-BE49-F238E27FC236}">
                <a16:creationId xmlns:a16="http://schemas.microsoft.com/office/drawing/2014/main" id="{CB11605E-9DCC-4FCB-859A-C03E3403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需求要经过多方传递、排期、补料、改稿、再确认。中间每多一跳，人的创造性就多被消耗一点。</a:t>
            </a:r>
          </a:p>
        </p:txBody>
      </p:sp>
      <p:sp>
        <p:nvSpPr>
          <p:cNvPr id="6" name="flow-surface">
            <a:extLst xmlns:a="http://schemas.openxmlformats.org/drawingml/2006/main">
              <a:ext uri="{FF2B5EF4-FFF2-40B4-BE49-F238E27FC236}">
                <a16:creationId xmlns:a16="http://schemas.microsoft.com/office/drawing/2014/main" id="{79A4BDA7-6176-4B56-8B26-F9E72C08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667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6BF666A1-1DE0-4219-AB5D-2DAA6DC8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3676650" cy="39052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A7B3D286-7FE5-4941-9EA2-4748137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text-1">
            <a:extLst xmlns:a="http://schemas.openxmlformats.org/drawingml/2006/main">
              <a:ext uri="{FF2B5EF4-FFF2-40B4-BE49-F238E27FC236}">
                <a16:creationId xmlns:a16="http://schemas.microsoft.com/office/drawing/2014/main" id="{9A704695-617A-4D84-8CA0-36C18478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9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业务需求进入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4BC0A-A716-4142-BB3E-12A3CA7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527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5A973C24-B952-4C0B-9ED7-90BC3BF7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820E867D-E678-4D5A-A7F7-80968C80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中台排期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D235E-3033-4FCD-BC9B-AF5E785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flow-3">
            <a:extLst xmlns:a="http://schemas.openxmlformats.org/drawingml/2006/main">
              <a:ext uri="{FF2B5EF4-FFF2-40B4-BE49-F238E27FC236}">
                <a16:creationId xmlns:a16="http://schemas.microsoft.com/office/drawing/2014/main" id="{E0E3E293-6668-4F50-9C9D-ADAF4962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flow-text-3">
            <a:extLst xmlns:a="http://schemas.openxmlformats.org/drawingml/2006/main">
              <a:ext uri="{FF2B5EF4-FFF2-40B4-BE49-F238E27FC236}">
                <a16:creationId xmlns:a16="http://schemas.microsoft.com/office/drawing/2014/main" id="{C8DADDEA-B4A2-4379-94AE-A962D553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62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业务补物料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CCC2F-60F9-4AF4-B582-A10D9C7C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flow-4">
            <a:extLst xmlns:a="http://schemas.openxmlformats.org/drawingml/2006/main">
              <a:ext uri="{FF2B5EF4-FFF2-40B4-BE49-F238E27FC236}">
                <a16:creationId xmlns:a16="http://schemas.microsoft.com/office/drawing/2014/main" id="{24154E30-7B3E-4C18-B0AB-A260ABB0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ow-text-4">
            <a:extLst xmlns:a="http://schemas.openxmlformats.org/drawingml/2006/main">
              <a:ext uri="{FF2B5EF4-FFF2-40B4-BE49-F238E27FC236}">
                <a16:creationId xmlns:a16="http://schemas.microsoft.com/office/drawing/2014/main" id="{CE43CCF6-6BE1-48C1-B192-99117A8A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多点位配置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1F777-9608-4C2F-AD41-1F75F657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101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319CA779-4FC8-4FE5-B8D4-A7D1731F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2333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text-5">
            <a:extLst xmlns:a="http://schemas.openxmlformats.org/drawingml/2006/main">
              <a:ext uri="{FF2B5EF4-FFF2-40B4-BE49-F238E27FC236}">
                <a16:creationId xmlns:a16="http://schemas.microsoft.com/office/drawing/2014/main" id="{648ADA31-30C5-43F0-B50C-9DD3312A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34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上线发布</a:t>
            </a:r>
          </a:p>
        </p:txBody>
      </p:sp>
      <p:sp>
        <p:nvSpPr>
          <p:cNvPr id="22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675E0F57-D42F-4D1F-BA0C-8E32DB2C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14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重复劳动的重量，主要落在这些环节之间</a:t>
            </a:r>
          </a:p>
        </p:txBody>
      </p:sp>
      <p:sp>
        <p:nvSpPr>
          <p:cNvPr id="23" name="pain-1">
            <a:extLst xmlns:a="http://schemas.openxmlformats.org/drawingml/2006/main">
              <a:ext uri="{FF2B5EF4-FFF2-40B4-BE49-F238E27FC236}">
                <a16:creationId xmlns:a16="http://schemas.microsoft.com/office/drawing/2014/main" id="{BD8ACEFC-A7FF-4E51-B86C-F04D7E38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8135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pain-text-1">
            <a:extLst xmlns:a="http://schemas.openxmlformats.org/drawingml/2006/main">
              <a:ext uri="{FF2B5EF4-FFF2-40B4-BE49-F238E27FC236}">
                <a16:creationId xmlns:a16="http://schemas.microsoft.com/office/drawing/2014/main" id="{65CD7DB7-55BB-498D-A494-B8CB572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76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反复确认</a:t>
            </a:r>
          </a:p>
        </p:txBody>
      </p:sp>
      <p:sp>
        <p:nvSpPr>
          <p:cNvPr id="25" name="pain-2">
            <a:extLst xmlns:a="http://schemas.openxmlformats.org/drawingml/2006/main">
              <a:ext uri="{FF2B5EF4-FFF2-40B4-BE49-F238E27FC236}">
                <a16:creationId xmlns:a16="http://schemas.microsoft.com/office/drawing/2014/main" id="{96B62BE0-AD39-4995-9A3D-D22A9B1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3380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pain-text-2">
            <a:extLst xmlns:a="http://schemas.openxmlformats.org/drawingml/2006/main">
              <a:ext uri="{FF2B5EF4-FFF2-40B4-BE49-F238E27FC236}">
                <a16:creationId xmlns:a16="http://schemas.microsoft.com/office/drawing/2014/main" id="{B0A099B2-EB7E-47B6-ACC7-47DF9DB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多方沟通</a:t>
            </a:r>
          </a:p>
        </p:txBody>
      </p:sp>
      <p:sp>
        <p:nvSpPr>
          <p:cNvPr id="27" name="pain-3">
            <a:extLst xmlns:a="http://schemas.openxmlformats.org/drawingml/2006/main">
              <a:ext uri="{FF2B5EF4-FFF2-40B4-BE49-F238E27FC236}">
                <a16:creationId xmlns:a16="http://schemas.microsoft.com/office/drawing/2014/main" id="{A8237CAF-E583-4FDB-9E2A-F89854E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3F5E"/>
            </a:solidFill>
            <a:prstDash val="solid"/>
          </a:ln>
        </p:spPr>
      </p:sp>
      <p:sp>
        <p:nvSpPr>
          <p:cNvPr id="28" name="pain-text-3">
            <a:extLst xmlns:a="http://schemas.openxmlformats.org/drawingml/2006/main">
              <a:ext uri="{FF2B5EF4-FFF2-40B4-BE49-F238E27FC236}">
                <a16:creationId xmlns:a16="http://schemas.microsoft.com/office/drawing/2014/main" id="{BC9786D3-C236-4ADF-BC84-F00ADC41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81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3F5E"/>
                </a:solidFill>
              </a:defRPr>
            </a:pPr>
            <a:r>
              <a:rPr sz="1275" b="1">
                <a:solidFill>
                  <a:srgbClr val="F43F5E"/>
                </a:solidFill>
              </a:rPr>
              <a:t>中间传递</a:t>
            </a:r>
          </a:p>
        </p:txBody>
      </p:sp>
      <p:sp>
        <p:nvSpPr>
          <p:cNvPr id="29" name="pain-4">
            <a:extLst xmlns:a="http://schemas.openxmlformats.org/drawingml/2006/main">
              <a:ext uri="{FF2B5EF4-FFF2-40B4-BE49-F238E27FC236}">
                <a16:creationId xmlns:a16="http://schemas.microsoft.com/office/drawing/2014/main" id="{7E4B27DA-02A6-4F97-8275-89219482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3870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pain-text-4">
            <a:extLst xmlns:a="http://schemas.openxmlformats.org/drawingml/2006/main">
              <a:ext uri="{FF2B5EF4-FFF2-40B4-BE49-F238E27FC236}">
                <a16:creationId xmlns:a16="http://schemas.microsoft.com/office/drawing/2014/main" id="{D093CF6D-FE80-48B0-81E9-169AE927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33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人工排期</a:t>
            </a:r>
          </a:p>
        </p:txBody>
      </p:sp>
      <p:sp>
        <p:nvSpPr>
          <p:cNvPr id="31" name="pain-5">
            <a:extLst xmlns:a="http://schemas.openxmlformats.org/drawingml/2006/main">
              <a:ext uri="{FF2B5EF4-FFF2-40B4-BE49-F238E27FC236}">
                <a16:creationId xmlns:a16="http://schemas.microsoft.com/office/drawing/2014/main" id="{FF2CBD3D-AB9F-47AA-AC03-325E0737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9115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pain-text-5">
            <a:extLst xmlns:a="http://schemas.openxmlformats.org/drawingml/2006/main">
              <a:ext uri="{FF2B5EF4-FFF2-40B4-BE49-F238E27FC236}">
                <a16:creationId xmlns:a16="http://schemas.microsoft.com/office/drawing/2014/main" id="{90CD0012-E010-4B71-96C2-62683CF4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8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上线前返工</a:t>
            </a:r>
          </a:p>
        </p:txBody>
      </p:sp>
      <p:sp>
        <p:nvSpPr>
          <p:cNvPr id="33" name="pain-quote">
            <a:extLst xmlns:a="http://schemas.openxmlformats.org/drawingml/2006/main">
              <a:ext uri="{FF2B5EF4-FFF2-40B4-BE49-F238E27FC236}">
                <a16:creationId xmlns:a16="http://schemas.microsoft.com/office/drawing/2014/main" id="{A52D01B6-5642-4AE3-8161-7E88899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3F5E"/>
                </a:solidFill>
              </a:defRPr>
            </a:pPr>
            <a:r>
              <a:rPr sz="1800" b="1">
                <a:solidFill>
                  <a:srgbClr val="F43F5E"/>
                </a:solidFill>
              </a:rPr>
              <a:t>一位运营要同时扮演</a:t>
            </a:r>
          </a:p>
          <a:p xmlns:a="http://schemas.openxmlformats.org/drawingml/2006/main">
            <a:pPr>
              <a:defRPr sz="1800" b="1">
                <a:solidFill>
                  <a:srgbClr val="F43F5E"/>
                </a:solidFill>
              </a:defRPr>
            </a:pPr>
            <a:r>
              <a:rPr sz="1800" b="1">
                <a:solidFill>
                  <a:srgbClr val="F43F5E"/>
                </a:solidFill>
              </a:rPr>
              <a:t>需求翻译器、排期协调员、</a:t>
            </a:r>
          </a:p>
          <a:p xmlns:a="http://schemas.openxmlformats.org/drawingml/2006/main">
            <a:pPr>
              <a:defRPr sz="1800" b="1">
                <a:solidFill>
                  <a:srgbClr val="F43F5E"/>
                </a:solidFill>
              </a:defRPr>
            </a:pPr>
            <a:r>
              <a:rPr sz="1800" b="1">
                <a:solidFill>
                  <a:srgbClr val="F43F5E"/>
                </a:solidFill>
              </a:rPr>
              <a:t>物料催办员和上线校对员。</a:t>
            </a:r>
          </a:p>
        </p:txBody>
      </p:sp>
      <p:sp>
        <p:nvSpPr>
          <p:cNvPr id="34" name="pain-body">
            <a:extLst xmlns:a="http://schemas.openxmlformats.org/drawingml/2006/main">
              <a:ext uri="{FF2B5EF4-FFF2-40B4-BE49-F238E27FC236}">
                <a16:creationId xmlns:a16="http://schemas.microsoft.com/office/drawing/2014/main" id="{487FF261-7BE6-429B-94A6-5B853F57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结果是：工作很忙，</a:t>
            </a:r>
          </a:p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但大部分时间都花在工具属性上，</a:t>
            </a:r>
          </a:p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而不是创造属性上。</a:t>
            </a:r>
          </a:p>
        </p:txBody>
      </p:sp>
      <p:sp>
        <p:nvSpPr>
          <p:cNvPr id="35" name="slide-num-3">
            <a:extLst xmlns:a="http://schemas.openxmlformats.org/drawingml/2006/main">
              <a:ext uri="{FF2B5EF4-FFF2-40B4-BE49-F238E27FC236}">
                <a16:creationId xmlns:a16="http://schemas.microsoft.com/office/drawing/2014/main" id="{F17216BB-A800-4A12-BAEC-FC88EF2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7415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g">
            <a:extLst xmlns:a="http://schemas.openxmlformats.org/drawingml/2006/main">
              <a:ext uri="{FF2B5EF4-FFF2-40B4-BE49-F238E27FC236}">
                <a16:creationId xmlns:a16="http://schemas.microsoft.com/office/drawing/2014/main" id="{DF590F73-3C38-4496-A75A-6A59F42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strip">
            <a:extLst xmlns:a="http://schemas.openxmlformats.org/drawingml/2006/main">
              <a:ext uri="{FF2B5EF4-FFF2-40B4-BE49-F238E27FC236}">
                <a16:creationId xmlns:a16="http://schemas.microsoft.com/office/drawing/2014/main" id="{BE911C76-2398-49C7-96FD-F761A8E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7F69E69-F191-4140-A172-2F009BA4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how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04C901-5D14-4806-B49B-4DBE04B2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我把这条链路，压成了一个人能跑完的闭环</a:t>
            </a:r>
          </a:p>
        </p:txBody>
      </p:sp>
      <p:sp>
        <p:nvSpPr>
          <p:cNvPr id="5" name="lede">
            <a:extLst xmlns:a="http://schemas.openxmlformats.org/drawingml/2006/main">
              <a:ext uri="{FF2B5EF4-FFF2-40B4-BE49-F238E27FC236}">
                <a16:creationId xmlns:a16="http://schemas.microsoft.com/office/drawing/2014/main" id="{B3A224EF-990F-40CF-816A-0821BB2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2FE"/>
                </a:solidFill>
              </a:defRPr>
            </a:pPr>
            <a:r>
              <a:rPr sz="1500" b="0">
                <a:solidFill>
                  <a:srgbClr val="C7D2FE"/>
                </a:solidFill>
              </a:rPr>
              <a:t>核心不是“自动生成”，而是把蓝图、边界、开发、验收都变成可被 AI 参与的步骤。</a:t>
            </a:r>
          </a:p>
        </p:txBody>
      </p:sp>
      <p:sp>
        <p:nvSpPr>
          <p:cNvPr id="6" name="pipeline-surface">
            <a:extLst xmlns:a="http://schemas.openxmlformats.org/drawingml/2006/main">
              <a:ext uri="{FF2B5EF4-FFF2-40B4-BE49-F238E27FC236}">
                <a16:creationId xmlns:a16="http://schemas.microsoft.com/office/drawing/2014/main" id="{E8E5C909-2D69-4BE7-AC26-AA262C1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0782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F2A44"/>
            </a:solidFill>
            <a:prstDash val="solid"/>
          </a:ln>
        </p:spPr>
      </p:sp>
      <p:sp>
        <p:nvSpPr>
          <p:cNvPr id="7" name="node-1">
            <a:extLst xmlns:a="http://schemas.openxmlformats.org/drawingml/2006/main">
              <a:ext uri="{FF2B5EF4-FFF2-40B4-BE49-F238E27FC236}">
                <a16:creationId xmlns:a16="http://schemas.microsoft.com/office/drawing/2014/main" id="{87252B6F-9050-4D2C-8562-DDFC4A6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8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26B4B0AC-37B7-451A-9BA8-1076CE15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蓝图</a:t>
            </a:r>
          </a:p>
        </p:txBody>
      </p:sp>
      <p:sp>
        <p:nvSpPr>
          <p:cNvPr id="9" name="node-sub-1">
            <a:extLst xmlns:a="http://schemas.openxmlformats.org/drawingml/2006/main">
              <a:ext uri="{FF2B5EF4-FFF2-40B4-BE49-F238E27FC236}">
                <a16:creationId xmlns:a16="http://schemas.microsoft.com/office/drawing/2014/main" id="{59C854D4-4FC0-48FF-BEED-8A7AD68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想清楚整体方向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B3640-CAB9-4B20-A3E1-23F12DF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765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3A55"/>
          </a:solidFill>
          <a:ln xmlns:a="http://schemas.openxmlformats.org/drawingml/2006/main" w="0">
            <a:solidFill>
              <a:srgbClr val="2B3A55"/>
            </a:solidFill>
            <a:prstDash val="solid"/>
          </a:ln>
        </p:spPr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3B38E637-F36A-4011-B012-A55FA483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7185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3A39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12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30FEDA2D-DE04-41D0-AC3B-581B4C63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052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边界</a:t>
            </a:r>
          </a:p>
        </p:txBody>
      </p:sp>
      <p:sp>
        <p:nvSpPr>
          <p:cNvPr id="13" name="node-sub-2">
            <a:extLst xmlns:a="http://schemas.openxmlformats.org/drawingml/2006/main">
              <a:ext uri="{FF2B5EF4-FFF2-40B4-BE49-F238E27FC236}">
                <a16:creationId xmlns:a16="http://schemas.microsoft.com/office/drawing/2014/main" id="{98284489-D4AA-4ED7-A1EE-C7538A4A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0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AI 完善约束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804A1-D5E2-4BEC-B937-5D716E6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814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3A55"/>
          </a:solidFill>
          <a:ln xmlns:a="http://schemas.openxmlformats.org/drawingml/2006/main" w="0">
            <a:solidFill>
              <a:srgbClr val="2B3A55"/>
            </a:solidFill>
            <a:prstDash val="solid"/>
          </a:ln>
        </p:spPr>
      </p:sp>
      <p:sp>
        <p:nvSpPr>
          <p:cNvPr id="15" name="node-3">
            <a:extLst xmlns:a="http://schemas.openxmlformats.org/drawingml/2006/main">
              <a:ext uri="{FF2B5EF4-FFF2-40B4-BE49-F238E27FC236}">
                <a16:creationId xmlns:a16="http://schemas.microsoft.com/office/drawing/2014/main" id="{3C590CB5-8717-4CF4-AED5-EF739C9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2E81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16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16BB2BE7-E4F5-42C7-B158-5B8A3B84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0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文档</a:t>
            </a:r>
          </a:p>
        </p:txBody>
      </p:sp>
      <p:sp>
        <p:nvSpPr>
          <p:cNvPr id="17" name="node-sub-3">
            <a:extLst xmlns:a="http://schemas.openxmlformats.org/drawingml/2006/main">
              <a:ext uri="{FF2B5EF4-FFF2-40B4-BE49-F238E27FC236}">
                <a16:creationId xmlns:a16="http://schemas.microsoft.com/office/drawing/2014/main" id="{B59B139C-A0FF-484E-BC1F-B15544F6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PRD / 技术文档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AC8FB-94F9-4598-8503-3912FEB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765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3A55"/>
          </a:solidFill>
          <a:ln xmlns:a="http://schemas.openxmlformats.org/drawingml/2006/main" w="0">
            <a:solidFill>
              <a:srgbClr val="2B3A55"/>
            </a:solidFill>
            <a:prstDash val="solid"/>
          </a:ln>
        </p:spPr>
      </p:sp>
      <p:sp>
        <p:nvSpPr>
          <p:cNvPr id="19" name="node-4">
            <a:extLst xmlns:a="http://schemas.openxmlformats.org/drawingml/2006/main">
              <a:ext uri="{FF2B5EF4-FFF2-40B4-BE49-F238E27FC236}">
                <a16:creationId xmlns:a16="http://schemas.microsoft.com/office/drawing/2014/main" id="{CAAA9EEC-A6C5-429E-8FD5-A6339C8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B2F15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0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D74AC3CF-6AF2-4DAE-AE46-691A3F00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复核</a:t>
            </a:r>
          </a:p>
        </p:txBody>
      </p:sp>
      <p:sp>
        <p:nvSpPr>
          <p:cNvPr id="21" name="node-sub-4">
            <a:extLst xmlns:a="http://schemas.openxmlformats.org/drawingml/2006/main">
              <a:ext uri="{FF2B5EF4-FFF2-40B4-BE49-F238E27FC236}">
                <a16:creationId xmlns:a16="http://schemas.microsoft.com/office/drawing/2014/main" id="{43F1A01E-FD7E-4609-911B-9FB2AAC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0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AI 之间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8D3A3-0971-43A9-A6DA-8D1CA07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814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node-5">
            <a:extLst xmlns:a="http://schemas.openxmlformats.org/drawingml/2006/main">
              <a:ext uri="{FF2B5EF4-FFF2-40B4-BE49-F238E27FC236}">
                <a16:creationId xmlns:a16="http://schemas.microsoft.com/office/drawing/2014/main" id="{FFDB45AD-4E2C-4D7D-8847-02E37FB5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4" name="node-title-5">
            <a:extLst xmlns:a="http://schemas.openxmlformats.org/drawingml/2006/main">
              <a:ext uri="{FF2B5EF4-FFF2-40B4-BE49-F238E27FC236}">
                <a16:creationId xmlns:a16="http://schemas.microsoft.com/office/drawing/2014/main" id="{DC447529-B89F-4520-B142-C0CAF4B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开发</a:t>
            </a:r>
          </a:p>
        </p:txBody>
      </p:sp>
      <p:sp>
        <p:nvSpPr>
          <p:cNvPr id="25" name="node-sub-5">
            <a:extLst xmlns:a="http://schemas.openxmlformats.org/drawingml/2006/main">
              <a:ext uri="{FF2B5EF4-FFF2-40B4-BE49-F238E27FC236}">
                <a16:creationId xmlns:a16="http://schemas.microsoft.com/office/drawing/2014/main" id="{42698E56-3C48-4601-AB3B-009B3C5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AI coding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9678E-39D4-4F36-9CCC-EF0164B5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765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3A55"/>
          </a:solidFill>
          <a:ln xmlns:a="http://schemas.openxmlformats.org/drawingml/2006/main" w="0">
            <a:solidFill>
              <a:srgbClr val="2B3A55"/>
            </a:solidFill>
            <a:prstDash val="solid"/>
          </a:ln>
        </p:spPr>
      </p:sp>
      <p:sp>
        <p:nvSpPr>
          <p:cNvPr id="27" name="node-6">
            <a:extLst xmlns:a="http://schemas.openxmlformats.org/drawingml/2006/main">
              <a:ext uri="{FF2B5EF4-FFF2-40B4-BE49-F238E27FC236}">
                <a16:creationId xmlns:a16="http://schemas.microsoft.com/office/drawing/2014/main" id="{673EA42D-6E64-4ADD-8188-210A8157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C2D12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8" name="node-title-6">
            <a:extLst xmlns:a="http://schemas.openxmlformats.org/drawingml/2006/main">
              <a:ext uri="{FF2B5EF4-FFF2-40B4-BE49-F238E27FC236}">
                <a16:creationId xmlns:a16="http://schemas.microsoft.com/office/drawing/2014/main" id="{0D8E2948-F1CB-4DF1-B883-A0182932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052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验收</a:t>
            </a:r>
          </a:p>
        </p:txBody>
      </p:sp>
      <p:sp>
        <p:nvSpPr>
          <p:cNvPr id="29" name="node-sub-6">
            <a:extLst xmlns:a="http://schemas.openxmlformats.org/drawingml/2006/main">
              <a:ext uri="{FF2B5EF4-FFF2-40B4-BE49-F238E27FC236}">
                <a16:creationId xmlns:a16="http://schemas.microsoft.com/office/drawing/2014/main" id="{4F0FAA7E-ED95-447C-96E7-6A7FBAE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0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人工校验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0B00E-5F99-41AA-AA1B-37102D44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3A55"/>
          </a:solidFill>
          <a:ln xmlns:a="http://schemas.openxmlformats.org/drawingml/2006/main" w="0">
            <a:solidFill>
              <a:srgbClr val="2B3A55"/>
            </a:solidFill>
            <a:prstDash val="solid"/>
          </a:ln>
        </p:spPr>
      </p:sp>
      <p:sp>
        <p:nvSpPr>
          <p:cNvPr id="31" name="node-7">
            <a:extLst xmlns:a="http://schemas.openxmlformats.org/drawingml/2006/main">
              <a:ext uri="{FF2B5EF4-FFF2-40B4-BE49-F238E27FC236}">
                <a16:creationId xmlns:a16="http://schemas.microsoft.com/office/drawing/2014/main" id="{2B691BD6-5BEA-4F90-88F1-3165208C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12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2" name="node-title-7">
            <a:extLst xmlns:a="http://schemas.openxmlformats.org/drawingml/2006/main">
              <a:ext uri="{FF2B5EF4-FFF2-40B4-BE49-F238E27FC236}">
                <a16:creationId xmlns:a16="http://schemas.microsoft.com/office/drawing/2014/main" id="{D6310640-009E-4B56-8BC2-5B925C30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上线</a:t>
            </a:r>
          </a:p>
        </p:txBody>
      </p:sp>
      <p:sp>
        <p:nvSpPr>
          <p:cNvPr id="33" name="node-sub-7">
            <a:extLst xmlns:a="http://schemas.openxmlformats.org/drawingml/2006/main">
              <a:ext uri="{FF2B5EF4-FFF2-40B4-BE49-F238E27FC236}">
                <a16:creationId xmlns:a16="http://schemas.microsoft.com/office/drawing/2014/main" id="{94D5A7A1-A24E-40A0-BDFE-B32CA5E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3F4"/>
                </a:solidFill>
              </a:defRPr>
            </a:pPr>
            <a:r>
              <a:rPr sz="1050" b="0">
                <a:solidFill>
                  <a:srgbClr val="D7E3F4"/>
                </a:solidFill>
              </a:rPr>
              <a:t>推送 SSH 服务</a:t>
            </a:r>
          </a:p>
        </p:txBody>
      </p:sp>
      <p:sp>
        <p:nvSpPr>
          <p:cNvPr id="34" name="team-badge">
            <a:extLst xmlns:a="http://schemas.openxmlformats.org/drawingml/2006/main">
              <a:ext uri="{FF2B5EF4-FFF2-40B4-BE49-F238E27FC236}">
                <a16:creationId xmlns:a16="http://schemas.microsoft.com/office/drawing/2014/main" id="{32E11EEF-24AA-49AD-90DF-D8D3028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2971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5" name="team-badge-title">
            <a:extLst xmlns:a="http://schemas.openxmlformats.org/drawingml/2006/main">
              <a:ext uri="{FF2B5EF4-FFF2-40B4-BE49-F238E27FC236}">
                <a16:creationId xmlns:a16="http://schemas.microsoft.com/office/drawing/2014/main" id="{71EF9144-0F79-4390-AACD-5DEDEA8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86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一个人跑完全链路</a:t>
            </a:r>
          </a:p>
        </p:txBody>
      </p:sp>
      <p:sp>
        <p:nvSpPr>
          <p:cNvPr id="36" name="team-badge-sub">
            <a:extLst xmlns:a="http://schemas.openxmlformats.org/drawingml/2006/main">
              <a:ext uri="{FF2B5EF4-FFF2-40B4-BE49-F238E27FC236}">
                <a16:creationId xmlns:a16="http://schemas.microsoft.com/office/drawing/2014/main" id="{3FAD8414-717C-459D-8F05-1CC60661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10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需求梳理 · 评估 · 开发 · 验收 · 上线</a:t>
            </a:r>
          </a:p>
        </p:txBody>
      </p:sp>
      <p:sp>
        <p:nvSpPr>
          <p:cNvPr id="37" name="slide-num-4">
            <a:extLst xmlns:a="http://schemas.openxmlformats.org/drawingml/2006/main">
              <a:ext uri="{FF2B5EF4-FFF2-40B4-BE49-F238E27FC236}">
                <a16:creationId xmlns:a16="http://schemas.microsoft.com/office/drawing/2014/main" id="{01D3BD62-26F3-4835-84AA-A600CDA5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3D1"/>
                </a:solidFill>
              </a:defRPr>
            </a:pPr>
            <a:r>
              <a:rPr sz="1200" b="1">
                <a:solidFill>
                  <a:srgbClr val="9FB3D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5906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g">
            <a:extLst xmlns:a="http://schemas.openxmlformats.org/drawingml/2006/main">
              <a:ext uri="{FF2B5EF4-FFF2-40B4-BE49-F238E27FC236}">
                <a16:creationId xmlns:a16="http://schemas.microsoft.com/office/drawing/2014/main" id="{F691C96F-A862-4DED-8860-38CB372A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strip">
            <a:extLst xmlns:a="http://schemas.openxmlformats.org/drawingml/2006/main">
              <a:ext uri="{FF2B5EF4-FFF2-40B4-BE49-F238E27FC236}">
                <a16:creationId xmlns:a16="http://schemas.microsoft.com/office/drawing/2014/main" id="{F7D65394-E14F-4A50-8667-4945FE75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55BCF01-8BB0-484B-922C-CC4D5C44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result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869AF6-B5BB-4C4E-8105-FFC0C47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真正被解放出来的，是思考策略的时间</a:t>
            </a:r>
          </a:p>
        </p:txBody>
      </p:sp>
      <p:sp>
        <p:nvSpPr>
          <p:cNvPr id="5" name="lede">
            <a:extLst xmlns:a="http://schemas.openxmlformats.org/drawingml/2006/main">
              <a:ext uri="{FF2B5EF4-FFF2-40B4-BE49-F238E27FC236}">
                <a16:creationId xmlns:a16="http://schemas.microsoft.com/office/drawing/2014/main" id="{360C5BCA-34DB-4B21-82DA-A476688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自动化不是把人变少，而是把人的位置从“工具执行者”挪到“策略创造者”。</a:t>
            </a:r>
          </a:p>
        </p:txBody>
      </p:sp>
      <p:sp>
        <p:nvSpPr>
          <p:cNvPr id="6" name="before-surface">
            <a:extLst xmlns:a="http://schemas.openxmlformats.org/drawingml/2006/main">
              <a:ext uri="{FF2B5EF4-FFF2-40B4-BE49-F238E27FC236}">
                <a16:creationId xmlns:a16="http://schemas.microsoft.com/office/drawing/2014/main" id="{CA5D9278-5682-488E-9578-42115A8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143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0"/>
            </a:solidFill>
            <a:prstDash val="solid"/>
          </a:ln>
        </p:spPr>
      </p:sp>
      <p:sp>
        <p:nvSpPr>
          <p:cNvPr id="7" name="after-surface">
            <a:extLst xmlns:a="http://schemas.openxmlformats.org/drawingml/2006/main">
              <a:ext uri="{FF2B5EF4-FFF2-40B4-BE49-F238E27FC236}">
                <a16:creationId xmlns:a16="http://schemas.microsoft.com/office/drawing/2014/main" id="{A63AC619-3EB2-4E5D-B71E-B389507E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5143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31A97-62D4-42FA-96B7-F9E7E35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8001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55D1DA3-4776-4610-9952-6D9576C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3F5E"/>
                </a:solidFill>
              </a:defRPr>
            </a:pPr>
            <a:r>
              <a:rPr sz="1650" b="1">
                <a:solidFill>
                  <a:srgbClr val="F43F5E"/>
                </a:solidFill>
              </a:rPr>
              <a:t>Before</a:t>
            </a:r>
          </a:p>
        </p:txBody>
      </p:sp>
      <p:sp>
        <p:nvSpPr>
          <p:cNvPr id="10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48B39B5C-BE4A-4655-8795-888D973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配置的工具属性</a:t>
            </a:r>
          </a:p>
        </p:txBody>
      </p:sp>
      <p:sp>
        <p:nvSpPr>
          <p:cNvPr id="11" name="before-bullet-1">
            <a:extLst xmlns:a="http://schemas.openxmlformats.org/drawingml/2006/main">
              <a:ext uri="{FF2B5EF4-FFF2-40B4-BE49-F238E27FC236}">
                <a16:creationId xmlns:a16="http://schemas.microsoft.com/office/drawing/2014/main" id="{BA99936C-2EF6-49E3-A197-8C3B1DF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before-bullet-text-1">
            <a:extLst xmlns:a="http://schemas.openxmlformats.org/drawingml/2006/main">
              <a:ext uri="{FF2B5EF4-FFF2-40B4-BE49-F238E27FC236}">
                <a16:creationId xmlns:a16="http://schemas.microsoft.com/office/drawing/2014/main" id="{E1C779B8-1857-4B06-8E2D-7BD59DF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单一流量分配</a:t>
            </a:r>
          </a:p>
        </p:txBody>
      </p:sp>
      <p:sp>
        <p:nvSpPr>
          <p:cNvPr id="13" name="before-bullet-2">
            <a:extLst xmlns:a="http://schemas.openxmlformats.org/drawingml/2006/main">
              <a:ext uri="{FF2B5EF4-FFF2-40B4-BE49-F238E27FC236}">
                <a16:creationId xmlns:a16="http://schemas.microsoft.com/office/drawing/2014/main" id="{5F848119-4D5D-4D3E-87EB-9B3DC03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3F5E"/>
            </a:solidFill>
            <a:prstDash val="solid"/>
          </a:ln>
        </p:spPr>
      </p:sp>
      <p:sp>
        <p:nvSpPr>
          <p:cNvPr id="14" name="before-bullet-text-2">
            <a:extLst xmlns:a="http://schemas.openxmlformats.org/drawingml/2006/main">
              <a:ext uri="{FF2B5EF4-FFF2-40B4-BE49-F238E27FC236}">
                <a16:creationId xmlns:a16="http://schemas.microsoft.com/office/drawing/2014/main" id="{893E7302-807D-4FB6-B9FB-83C3C9B1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3F5E"/>
                </a:solidFill>
              </a:defRPr>
            </a:pPr>
            <a:r>
              <a:rPr sz="1200" b="1">
                <a:solidFill>
                  <a:srgbClr val="F43F5E"/>
                </a:solidFill>
              </a:rPr>
              <a:t>人工排期</a:t>
            </a:r>
          </a:p>
        </p:txBody>
      </p:sp>
      <p:sp>
        <p:nvSpPr>
          <p:cNvPr id="15" name="before-bullet-3">
            <a:extLst xmlns:a="http://schemas.openxmlformats.org/drawingml/2006/main">
              <a:ext uri="{FF2B5EF4-FFF2-40B4-BE49-F238E27FC236}">
                <a16:creationId xmlns:a16="http://schemas.microsoft.com/office/drawing/2014/main" id="{9B962C9F-6AAE-413B-8974-B9D8A668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before-bullet-text-3">
            <a:extLst xmlns:a="http://schemas.openxmlformats.org/drawingml/2006/main">
              <a:ext uri="{FF2B5EF4-FFF2-40B4-BE49-F238E27FC236}">
                <a16:creationId xmlns:a16="http://schemas.microsoft.com/office/drawing/2014/main" id="{57CFACA2-E04E-43A3-8395-2D5A369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反复确认</a:t>
            </a:r>
          </a:p>
        </p:txBody>
      </p:sp>
      <p:sp>
        <p:nvSpPr>
          <p:cNvPr id="17" name="before-bullet-4">
            <a:extLst xmlns:a="http://schemas.openxmlformats.org/drawingml/2006/main">
              <a:ext uri="{FF2B5EF4-FFF2-40B4-BE49-F238E27FC236}">
                <a16:creationId xmlns:a16="http://schemas.microsoft.com/office/drawing/2014/main" id="{8B6BCA03-564B-45DD-91E6-9ABE0A0A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before-bullet-text-4">
            <a:extLst xmlns:a="http://schemas.openxmlformats.org/drawingml/2006/main">
              <a:ext uri="{FF2B5EF4-FFF2-40B4-BE49-F238E27FC236}">
                <a16:creationId xmlns:a16="http://schemas.microsoft.com/office/drawing/2014/main" id="{588C5084-EB05-4349-AC93-15D62320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物料勾兑</a:t>
            </a:r>
          </a:p>
        </p:txBody>
      </p:sp>
      <p:sp>
        <p:nvSpPr>
          <p:cNvPr id="19" name="before-bullet-5">
            <a:extLst xmlns:a="http://schemas.openxmlformats.org/drawingml/2006/main">
              <a:ext uri="{FF2B5EF4-FFF2-40B4-BE49-F238E27FC236}">
                <a16:creationId xmlns:a16="http://schemas.microsoft.com/office/drawing/2014/main" id="{E6AC6134-B147-49A1-A5EE-7FA6566E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before-bullet-text-5">
            <a:extLst xmlns:a="http://schemas.openxmlformats.org/drawingml/2006/main">
              <a:ext uri="{FF2B5EF4-FFF2-40B4-BE49-F238E27FC236}">
                <a16:creationId xmlns:a16="http://schemas.microsoft.com/office/drawing/2014/main" id="{CCAC98EA-8D29-4122-85D6-3C54ECC4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53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上线前返工</a:t>
            </a:r>
          </a:p>
        </p:txBody>
      </p:sp>
      <p:sp>
        <p:nvSpPr>
          <p:cNvPr id="21" name="after-label">
            <a:extLst xmlns:a="http://schemas.openxmlformats.org/drawingml/2006/main">
              <a:ext uri="{FF2B5EF4-FFF2-40B4-BE49-F238E27FC236}">
                <a16:creationId xmlns:a16="http://schemas.microsoft.com/office/drawing/2014/main" id="{F1EFB47F-4352-4CEF-88CC-5A05C0B8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After</a:t>
            </a:r>
          </a:p>
        </p:txBody>
      </p:sp>
      <p:sp>
        <p:nvSpPr>
          <p:cNvPr id="22" name="after-title">
            <a:extLst xmlns:a="http://schemas.openxmlformats.org/drawingml/2006/main">
              <a:ext uri="{FF2B5EF4-FFF2-40B4-BE49-F238E27FC236}">
                <a16:creationId xmlns:a16="http://schemas.microsoft.com/office/drawing/2014/main" id="{F7AF0EE1-7918-42E9-9F8E-4151D564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策略的创造属性</a:t>
            </a:r>
          </a:p>
        </p:txBody>
      </p:sp>
      <p:sp>
        <p:nvSpPr>
          <p:cNvPr id="23" name="after-bullet-1">
            <a:extLst xmlns:a="http://schemas.openxmlformats.org/drawingml/2006/main">
              <a:ext uri="{FF2B5EF4-FFF2-40B4-BE49-F238E27FC236}">
                <a16:creationId xmlns:a16="http://schemas.microsoft.com/office/drawing/2014/main" id="{24FE2BC3-3C28-4981-87A2-B0D13E1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3A55"/>
            </a:solidFill>
            <a:prstDash val="solid"/>
          </a:ln>
        </p:spPr>
      </p:sp>
      <p:sp>
        <p:nvSpPr>
          <p:cNvPr id="24" name="after-bullet-text-1">
            <a:extLst xmlns:a="http://schemas.openxmlformats.org/drawingml/2006/main">
              <a:ext uri="{FF2B5EF4-FFF2-40B4-BE49-F238E27FC236}">
                <a16:creationId xmlns:a16="http://schemas.microsoft.com/office/drawing/2014/main" id="{E2091489-2179-4BB1-A038-39B070DE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召回与增长</a:t>
            </a:r>
          </a:p>
        </p:txBody>
      </p:sp>
      <p:sp>
        <p:nvSpPr>
          <p:cNvPr id="25" name="after-bullet-2">
            <a:extLst xmlns:a="http://schemas.openxmlformats.org/drawingml/2006/main">
              <a:ext uri="{FF2B5EF4-FFF2-40B4-BE49-F238E27FC236}">
                <a16:creationId xmlns:a16="http://schemas.microsoft.com/office/drawing/2014/main" id="{18F361F3-56AE-445A-9984-B011DC0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3A55"/>
            </a:solidFill>
            <a:prstDash val="solid"/>
          </a:ln>
        </p:spPr>
      </p:sp>
      <p:sp>
        <p:nvSpPr>
          <p:cNvPr id="26" name="after-bullet-text-2">
            <a:extLst xmlns:a="http://schemas.openxmlformats.org/drawingml/2006/main">
              <a:ext uri="{FF2B5EF4-FFF2-40B4-BE49-F238E27FC236}">
                <a16:creationId xmlns:a16="http://schemas.microsoft.com/office/drawing/2014/main" id="{C6663C30-C451-4FC6-9D84-D9E74AE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用户运营</a:t>
            </a:r>
          </a:p>
        </p:txBody>
      </p:sp>
      <p:sp>
        <p:nvSpPr>
          <p:cNvPr id="27" name="after-bullet-3">
            <a:extLst xmlns:a="http://schemas.openxmlformats.org/drawingml/2006/main">
              <a:ext uri="{FF2B5EF4-FFF2-40B4-BE49-F238E27FC236}">
                <a16:creationId xmlns:a16="http://schemas.microsoft.com/office/drawing/2014/main" id="{0F9AEA21-BF5D-4077-9255-6E9CB501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after-bullet-text-3">
            <a:extLst xmlns:a="http://schemas.openxmlformats.org/drawingml/2006/main">
              <a:ext uri="{FF2B5EF4-FFF2-40B4-BE49-F238E27FC236}">
                <a16:creationId xmlns:a16="http://schemas.microsoft.com/office/drawing/2014/main" id="{C2531E73-0904-4E91-A8F2-AB58FAD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策略思考</a:t>
            </a:r>
          </a:p>
        </p:txBody>
      </p:sp>
      <p:sp>
        <p:nvSpPr>
          <p:cNvPr id="29" name="after-bullet-4">
            <a:extLst xmlns:a="http://schemas.openxmlformats.org/drawingml/2006/main">
              <a:ext uri="{FF2B5EF4-FFF2-40B4-BE49-F238E27FC236}">
                <a16:creationId xmlns:a16="http://schemas.microsoft.com/office/drawing/2014/main" id="{FB91B264-21AB-4888-AB42-AA2AB0A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3A55"/>
            </a:solidFill>
            <a:prstDash val="solid"/>
          </a:ln>
        </p:spPr>
      </p:sp>
      <p:sp>
        <p:nvSpPr>
          <p:cNvPr id="30" name="after-bullet-text-4">
            <a:extLst xmlns:a="http://schemas.openxmlformats.org/drawingml/2006/main">
              <a:ext uri="{FF2B5EF4-FFF2-40B4-BE49-F238E27FC236}">
                <a16:creationId xmlns:a16="http://schemas.microsoft.com/office/drawing/2014/main" id="{D78156E7-512C-4838-8293-039919E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95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更多业务面向</a:t>
            </a:r>
          </a:p>
        </p:txBody>
      </p:sp>
      <p:sp>
        <p:nvSpPr>
          <p:cNvPr id="31" name="after-bullet-5">
            <a:extLst xmlns:a="http://schemas.openxmlformats.org/drawingml/2006/main">
              <a:ext uri="{FF2B5EF4-FFF2-40B4-BE49-F238E27FC236}">
                <a16:creationId xmlns:a16="http://schemas.microsoft.com/office/drawing/2014/main" id="{F348CF94-9653-4E49-A979-36BF332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2571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3A55"/>
            </a:solidFill>
            <a:prstDash val="solid"/>
          </a:ln>
        </p:spPr>
      </p:sp>
      <p:sp>
        <p:nvSpPr>
          <p:cNvPr id="32" name="after-bullet-text-5">
            <a:extLst xmlns:a="http://schemas.openxmlformats.org/drawingml/2006/main">
              <a:ext uri="{FF2B5EF4-FFF2-40B4-BE49-F238E27FC236}">
                <a16:creationId xmlns:a16="http://schemas.microsoft.com/office/drawing/2014/main" id="{3B5838EC-27CC-4610-BEE1-2E663A90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53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why 和 how</a:t>
            </a:r>
          </a:p>
        </p:txBody>
      </p:sp>
      <p:sp>
        <p:nvSpPr>
          <p:cNvPr id="33" name="slide-num-5">
            <a:extLst xmlns:a="http://schemas.openxmlformats.org/drawingml/2006/main">
              <a:ext uri="{FF2B5EF4-FFF2-40B4-BE49-F238E27FC236}">
                <a16:creationId xmlns:a16="http://schemas.microsoft.com/office/drawing/2014/main" id="{62961706-86E8-40A3-9E7E-FA65F783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9748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g">
            <a:extLst xmlns:a="http://schemas.openxmlformats.org/drawingml/2006/main">
              <a:ext uri="{FF2B5EF4-FFF2-40B4-BE49-F238E27FC236}">
                <a16:creationId xmlns:a16="http://schemas.microsoft.com/office/drawing/2014/main" id="{B798C395-706F-4A63-92AB-E5C15E5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strip">
            <a:extLst xmlns:a="http://schemas.openxmlformats.org/drawingml/2006/main">
              <a:ext uri="{FF2B5EF4-FFF2-40B4-BE49-F238E27FC236}">
                <a16:creationId xmlns:a16="http://schemas.microsoft.com/office/drawing/2014/main" id="{4329E93F-6144-4538-941A-74AA13F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1E90C01-FEF7-4418-8227-638F85DE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未来图景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76C175-1ECF-43FB-9565-F176E32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自动做工作，只是 AI 最无聊的应用</a:t>
            </a:r>
          </a:p>
        </p:txBody>
      </p:sp>
      <p:sp>
        <p:nvSpPr>
          <p:cNvPr id="5" name="lede">
            <a:extLst xmlns:a="http://schemas.openxmlformats.org/drawingml/2006/main">
              <a:ext uri="{FF2B5EF4-FFF2-40B4-BE49-F238E27FC236}">
                <a16:creationId xmlns:a16="http://schemas.microsoft.com/office/drawing/2014/main" id="{D6545EBB-584A-4D6B-BF2E-EA6B8340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真正更大的想象力，在于 AI 继续创造新的 AI 应用，而不是只做“替人跑流程”的工具。</a:t>
            </a:r>
          </a:p>
        </p:txBody>
      </p:sp>
      <p:sp>
        <p:nvSpPr>
          <p:cNvPr id="6" name="app-1">
            <a:extLst xmlns:a="http://schemas.openxmlformats.org/drawingml/2006/main">
              <a:ext uri="{FF2B5EF4-FFF2-40B4-BE49-F238E27FC236}">
                <a16:creationId xmlns:a16="http://schemas.microsoft.com/office/drawing/2014/main" id="{6DC99D77-59FA-47C4-85B7-7DD65178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7" name="app-text-1">
            <a:extLst xmlns:a="http://schemas.openxmlformats.org/drawingml/2006/main">
              <a:ext uri="{FF2B5EF4-FFF2-40B4-BE49-F238E27FC236}">
                <a16:creationId xmlns:a16="http://schemas.microsoft.com/office/drawing/2014/main" id="{386F8B73-A14C-45F2-A15D-E4D15BB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聊天</a:t>
            </a:r>
          </a:p>
        </p:txBody>
      </p:sp>
      <p:sp>
        <p:nvSpPr>
          <p:cNvPr id="8" name="app-2">
            <a:extLst xmlns:a="http://schemas.openxmlformats.org/drawingml/2006/main">
              <a:ext uri="{FF2B5EF4-FFF2-40B4-BE49-F238E27FC236}">
                <a16:creationId xmlns:a16="http://schemas.microsoft.com/office/drawing/2014/main" id="{9B6401B8-7A78-4994-BE94-314F054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app-text-2">
            <a:extLst xmlns:a="http://schemas.openxmlformats.org/drawingml/2006/main">
              <a:ext uri="{FF2B5EF4-FFF2-40B4-BE49-F238E27FC236}">
                <a16:creationId xmlns:a16="http://schemas.microsoft.com/office/drawing/2014/main" id="{A99EB72C-4DB5-4BE6-A0BA-3DAC81F0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陪伴</a:t>
            </a:r>
          </a:p>
        </p:txBody>
      </p:sp>
      <p:sp>
        <p:nvSpPr>
          <p:cNvPr id="10" name="app-3">
            <a:extLst xmlns:a="http://schemas.openxmlformats.org/drawingml/2006/main">
              <a:ext uri="{FF2B5EF4-FFF2-40B4-BE49-F238E27FC236}">
                <a16:creationId xmlns:a16="http://schemas.microsoft.com/office/drawing/2014/main" id="{471D2AF0-547E-4F73-870A-8A73D3AF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1" name="app-text-3">
            <a:extLst xmlns:a="http://schemas.openxmlformats.org/drawingml/2006/main">
              <a:ext uri="{FF2B5EF4-FFF2-40B4-BE49-F238E27FC236}">
                <a16:creationId xmlns:a16="http://schemas.microsoft.com/office/drawing/2014/main" id="{CEE6A7EF-C61C-459C-ADFA-D9DFC4E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90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答疑</a:t>
            </a:r>
          </a:p>
        </p:txBody>
      </p:sp>
      <p:sp>
        <p:nvSpPr>
          <p:cNvPr id="12" name="app-4">
            <a:extLst xmlns:a="http://schemas.openxmlformats.org/drawingml/2006/main">
              <a:ext uri="{FF2B5EF4-FFF2-40B4-BE49-F238E27FC236}">
                <a16:creationId xmlns:a16="http://schemas.microsoft.com/office/drawing/2014/main" id="{A4D6A2EE-3DE6-404E-8692-7BFD2EBB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3" name="app-text-4">
            <a:extLst xmlns:a="http://schemas.openxmlformats.org/drawingml/2006/main">
              <a:ext uri="{FF2B5EF4-FFF2-40B4-BE49-F238E27FC236}">
                <a16:creationId xmlns:a16="http://schemas.microsoft.com/office/drawing/2014/main" id="{1AA9CCCB-CE7A-4787-A859-2C9676FB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陪练</a:t>
            </a:r>
          </a:p>
        </p:txBody>
      </p:sp>
      <p:sp>
        <p:nvSpPr>
          <p:cNvPr id="14" name="app-5">
            <a:extLst xmlns:a="http://schemas.openxmlformats.org/drawingml/2006/main">
              <a:ext uri="{FF2B5EF4-FFF2-40B4-BE49-F238E27FC236}">
                <a16:creationId xmlns:a16="http://schemas.microsoft.com/office/drawing/2014/main" id="{B07B5631-E70E-4651-AC22-CE4B153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3A39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5" name="app-text-5">
            <a:extLst xmlns:a="http://schemas.openxmlformats.org/drawingml/2006/main">
              <a:ext uri="{FF2B5EF4-FFF2-40B4-BE49-F238E27FC236}">
                <a16:creationId xmlns:a16="http://schemas.microsoft.com/office/drawing/2014/main" id="{7E0D2AAF-AE63-423C-BB64-98746764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剪视频</a:t>
            </a:r>
          </a:p>
        </p:txBody>
      </p:sp>
      <p:sp>
        <p:nvSpPr>
          <p:cNvPr id="16" name="app-6">
            <a:extLst xmlns:a="http://schemas.openxmlformats.org/drawingml/2006/main">
              <a:ext uri="{FF2B5EF4-FFF2-40B4-BE49-F238E27FC236}">
                <a16:creationId xmlns:a16="http://schemas.microsoft.com/office/drawing/2014/main" id="{185EF556-B47D-4918-A267-938AA3CE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3A39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app-text-6">
            <a:extLst xmlns:a="http://schemas.openxmlformats.org/drawingml/2006/main">
              <a:ext uri="{FF2B5EF4-FFF2-40B4-BE49-F238E27FC236}">
                <a16:creationId xmlns:a16="http://schemas.microsoft.com/office/drawing/2014/main" id="{5CB8E723-6C18-4231-B45E-BFB7F2F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做影视</a:t>
            </a:r>
          </a:p>
        </p:txBody>
      </p:sp>
      <p:sp>
        <p:nvSpPr>
          <p:cNvPr id="18" name="app-7">
            <a:extLst xmlns:a="http://schemas.openxmlformats.org/drawingml/2006/main">
              <a:ext uri="{FF2B5EF4-FFF2-40B4-BE49-F238E27FC236}">
                <a16:creationId xmlns:a16="http://schemas.microsoft.com/office/drawing/2014/main" id="{83AF5245-FBEE-465C-B6CE-20CD4D2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3A39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9" name="app-text-7">
            <a:extLst xmlns:a="http://schemas.openxmlformats.org/drawingml/2006/main">
              <a:ext uri="{FF2B5EF4-FFF2-40B4-BE49-F238E27FC236}">
                <a16:creationId xmlns:a16="http://schemas.microsoft.com/office/drawing/2014/main" id="{2AB2E953-6772-4974-9503-04D7BB53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真人 TTS</a:t>
            </a:r>
          </a:p>
        </p:txBody>
      </p:sp>
      <p:sp>
        <p:nvSpPr>
          <p:cNvPr id="20" name="app-8">
            <a:extLst xmlns:a="http://schemas.openxmlformats.org/drawingml/2006/main">
              <a:ext uri="{FF2B5EF4-FFF2-40B4-BE49-F238E27FC236}">
                <a16:creationId xmlns:a16="http://schemas.microsoft.com/office/drawing/2014/main" id="{8CCA2A8D-43C6-4432-A49B-2DBF1776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9090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app-text-8">
            <a:extLst xmlns:a="http://schemas.openxmlformats.org/drawingml/2006/main">
              <a:ext uri="{FF2B5EF4-FFF2-40B4-BE49-F238E27FC236}">
                <a16:creationId xmlns:a16="http://schemas.microsoft.com/office/drawing/2014/main" id="{42A118DA-6C84-400B-82AF-66924B9A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自动工作</a:t>
            </a:r>
          </a:p>
        </p:txBody>
      </p:sp>
      <p:sp>
        <p:nvSpPr>
          <p:cNvPr id="22" name="separator">
            <a:extLst xmlns:a="http://schemas.openxmlformats.org/drawingml/2006/main">
              <a:ext uri="{FF2B5EF4-FFF2-40B4-BE49-F238E27FC236}">
                <a16:creationId xmlns:a16="http://schemas.microsoft.com/office/drawing/2014/main" id="{BA8B2640-89A1-4E56-BBAF-D0CC4EE5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osing">
            <a:extLst xmlns:a="http://schemas.openxmlformats.org/drawingml/2006/main">
              <a:ext uri="{FF2B5EF4-FFF2-40B4-BE49-F238E27FC236}">
                <a16:creationId xmlns:a16="http://schemas.microsoft.com/office/drawing/2014/main" id="{06A96480-3F2E-4FE2-9899-37909FA0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我的经历只是一个小缩影。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在 AI 技术的加持下，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更多劳动价值会被重新定义，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而价值的去向，才是接下来要继续思考的题目。</a:t>
            </a:r>
          </a:p>
        </p:txBody>
      </p:sp>
      <p:sp>
        <p:nvSpPr>
          <p:cNvPr id="24" name="slide-num-6">
            <a:extLst xmlns:a="http://schemas.openxmlformats.org/drawingml/2006/main">
              <a:ext uri="{FF2B5EF4-FFF2-40B4-BE49-F238E27FC236}">
                <a16:creationId xmlns:a16="http://schemas.microsoft.com/office/drawing/2014/main" id="{D1CCDF0B-4EDF-4D22-8507-FE8DC1E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A3BF"/>
                </a:solidFill>
              </a:defRPr>
            </a:pPr>
            <a:r>
              <a:rPr sz="1200" b="1">
                <a:solidFill>
                  <a:srgbClr val="8CA3B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9193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2026-08-23T07:47:08.9550000Z</dcterms:created>
  <dcterms:modified xsi:type="dcterms:W3CDTF">2026-08-23T07:47:08.9550000Z</dcterms:modified>
</coreProperties>
</file>